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 Serif"/>
      <p:regular r:id="rId19"/>
      <p:bold r:id="rId20"/>
      <p:italic r:id="rId21"/>
      <p:boldItalic r:id="rId22"/>
    </p:embeddedFont>
    <p:embeddedFont>
      <p:font typeface="DM Sans Medium"/>
      <p:regular r:id="rId23"/>
      <p:bold r:id="rId24"/>
      <p:italic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Merriweather Medium"/>
      <p:regular r:id="rId31"/>
      <p:bold r:id="rId32"/>
      <p:italic r:id="rId33"/>
      <p:boldItalic r:id="rId34"/>
    </p:embeddedFont>
    <p:embeddedFont>
      <p:font typeface="Merriweather"/>
      <p:regular r:id="rId35"/>
      <p:bold r:id="rId36"/>
      <p:italic r:id="rId37"/>
      <p:boldItalic r:id="rId38"/>
    </p:embeddedFont>
    <p:embeddedFont>
      <p:font typeface="DM Sans"/>
      <p:regular r:id="rId39"/>
      <p:bold r:id="rId40"/>
      <p:italic r:id="rId41"/>
      <p:boldItalic r:id="rId42"/>
    </p:embeddedFont>
    <p:embeddedFont>
      <p:font typeface="Merriweather ExtraBold"/>
      <p:bold r:id="rId43"/>
      <p:boldItalic r:id="rId44"/>
    </p:embeddedFont>
    <p:embeddedFont>
      <p:font typeface="Roboto Serif Medium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7E6ECB-9D40-49CA-BDDA-1B6C73E33206}">
  <a:tblStyle styleId="{A27E6ECB-9D40-49CA-BDDA-1B6C73E33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.fntdata"/><Relationship Id="rId20" Type="http://schemas.openxmlformats.org/officeDocument/2006/relationships/font" Target="fonts/RobotoSerif-bold.fntdata"/><Relationship Id="rId42" Type="http://schemas.openxmlformats.org/officeDocument/2006/relationships/font" Target="fonts/DMSans-boldItalic.fntdata"/><Relationship Id="rId41" Type="http://schemas.openxmlformats.org/officeDocument/2006/relationships/font" Target="fonts/DMSans-italic.fntdata"/><Relationship Id="rId22" Type="http://schemas.openxmlformats.org/officeDocument/2006/relationships/font" Target="fonts/RobotoSerif-boldItalic.fntdata"/><Relationship Id="rId44" Type="http://schemas.openxmlformats.org/officeDocument/2006/relationships/font" Target="fonts/MerriweatherExtraBold-boldItalic.fntdata"/><Relationship Id="rId21" Type="http://schemas.openxmlformats.org/officeDocument/2006/relationships/font" Target="fonts/RobotoSerif-italic.fntdata"/><Relationship Id="rId43" Type="http://schemas.openxmlformats.org/officeDocument/2006/relationships/font" Target="fonts/MerriweatherExtraBold-bold.fntdata"/><Relationship Id="rId24" Type="http://schemas.openxmlformats.org/officeDocument/2006/relationships/font" Target="fonts/DMSansMedium-bold.fntdata"/><Relationship Id="rId46" Type="http://schemas.openxmlformats.org/officeDocument/2006/relationships/font" Target="fonts/RobotoSerifMedium-bold.fntdata"/><Relationship Id="rId23" Type="http://schemas.openxmlformats.org/officeDocument/2006/relationships/font" Target="fonts/DMSansMedium-regular.fntdata"/><Relationship Id="rId45" Type="http://schemas.openxmlformats.org/officeDocument/2006/relationships/font" Target="fonts/RobotoSerif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Medium-boldItalic.fntdata"/><Relationship Id="rId48" Type="http://schemas.openxmlformats.org/officeDocument/2006/relationships/font" Target="fonts/RobotoSerifMedium-boldItalic.fntdata"/><Relationship Id="rId25" Type="http://schemas.openxmlformats.org/officeDocument/2006/relationships/font" Target="fonts/DMSansMedium-italic.fntdata"/><Relationship Id="rId47" Type="http://schemas.openxmlformats.org/officeDocument/2006/relationships/font" Target="fonts/RobotoSerifMedium-italic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Medium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33" Type="http://schemas.openxmlformats.org/officeDocument/2006/relationships/font" Target="fonts/MerriweatherMedium-italic.fntdata"/><Relationship Id="rId10" Type="http://schemas.openxmlformats.org/officeDocument/2006/relationships/slide" Target="slides/slide4.xml"/><Relationship Id="rId32" Type="http://schemas.openxmlformats.org/officeDocument/2006/relationships/font" Target="fonts/MerriweatherMedium-bold.fntdata"/><Relationship Id="rId13" Type="http://schemas.openxmlformats.org/officeDocument/2006/relationships/slide" Target="slides/slide7.xml"/><Relationship Id="rId35" Type="http://schemas.openxmlformats.org/officeDocument/2006/relationships/font" Target="fonts/Merriweather-regular.fntdata"/><Relationship Id="rId12" Type="http://schemas.openxmlformats.org/officeDocument/2006/relationships/slide" Target="slides/slide6.xml"/><Relationship Id="rId34" Type="http://schemas.openxmlformats.org/officeDocument/2006/relationships/font" Target="fonts/MerriweatherMedium-boldItalic.fntdata"/><Relationship Id="rId15" Type="http://schemas.openxmlformats.org/officeDocument/2006/relationships/slide" Target="slides/slide9.xml"/><Relationship Id="rId37" Type="http://schemas.openxmlformats.org/officeDocument/2006/relationships/font" Target="fonts/Merriweather-italic.fntdata"/><Relationship Id="rId14" Type="http://schemas.openxmlformats.org/officeDocument/2006/relationships/slide" Target="slides/slide8.xml"/><Relationship Id="rId36" Type="http://schemas.openxmlformats.org/officeDocument/2006/relationships/font" Target="fonts/Merriweather-bold.fntdata"/><Relationship Id="rId17" Type="http://schemas.openxmlformats.org/officeDocument/2006/relationships/slide" Target="slides/slide11.xml"/><Relationship Id="rId39" Type="http://schemas.openxmlformats.org/officeDocument/2006/relationships/font" Target="fonts/DMSans-regular.fntdata"/><Relationship Id="rId16" Type="http://schemas.openxmlformats.org/officeDocument/2006/relationships/slide" Target="slides/slide10.xml"/><Relationship Id="rId38" Type="http://schemas.openxmlformats.org/officeDocument/2006/relationships/font" Target="fonts/Merriweather-boldItalic.fntdata"/><Relationship Id="rId19" Type="http://schemas.openxmlformats.org/officeDocument/2006/relationships/font" Target="fonts/RobotoSerif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7cb49b5f8e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7cb49b5f8e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8af0a0769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88af0a0769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7d6cb10837_0_1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7d6cb10837_0_1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88af0a076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88af0a076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66451f99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66451f99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81987320e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81987320e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81987320e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81987320e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81987320e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81987320e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7eef8dfc7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7eef8dfc7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7eef8dfc7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7eef8dfc7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7cb49b5f8e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7cb49b5f8e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66451f99a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66451f99a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23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36" name="Google Shape;136;p23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4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1" name="Google Shape;141;p24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2" name="Google Shape;142;p24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3" name="Google Shape;143;p24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4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5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49" name="Google Shape;149;p25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25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6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54" name="Google Shape;154;p26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" name="Google Shape;155;p26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27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1" name="Google Shape;161;p27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7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6" name="Google Shape;16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8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8" name="Google Shape;168;p28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28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p28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2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6" name="Google Shape;176;p29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77" name="Google Shape;177;p29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1" name="Google Shape;181;p30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2" name="Google Shape;182;p30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3" name="Google Shape;183;p30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4" name="Google Shape;184;p30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5" name="Google Shape;185;p30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6" name="Google Shape;186;p30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7" name="Google Shape;187;p30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8" name="Google Shape;188;p30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9" name="Google Shape;189;p30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1" name="Google Shape;191;p30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2" name="Google Shape;192;p30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3" name="Google Shape;193;p30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4" name="Google Shape;194;p30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5" name="Google Shape;195;p30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6" name="Google Shape;196;p30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7" name="Google Shape;197;p30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8" name="Google Shape;198;p30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9" name="Google Shape;199;p30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0" name="Google Shape;200;p30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1" name="Google Shape;201;p30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2" name="Google Shape;202;p30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3" name="Google Shape;203;p30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4" name="Google Shape;204;p30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5" name="Google Shape;205;p30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6" name="Google Shape;206;p30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7" name="Google Shape;207;p30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8" name="Google Shape;208;p30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31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31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hyperlink" Target="mailto:vishwa271205@gmail.com" TargetMode="External"/><Relationship Id="rId7" Type="http://schemas.openxmlformats.org/officeDocument/2006/relationships/hyperlink" Target="mailto:sundarrajrahul@gmail.com" TargetMode="External"/><Relationship Id="rId8" Type="http://schemas.openxmlformats.org/officeDocument/2006/relationships/hyperlink" Target="mailto:bvasanthan@mitindia.edu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9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15.png"/><Relationship Id="rId8" Type="http://schemas.openxmlformats.org/officeDocument/2006/relationships/image" Target="../media/image4.png"/><Relationship Id="rId11" Type="http://schemas.openxmlformats.org/officeDocument/2006/relationships/image" Target="../media/image19.png"/><Relationship Id="rId10" Type="http://schemas.openxmlformats.org/officeDocument/2006/relationships/image" Target="../media/image8.png"/><Relationship Id="rId13" Type="http://schemas.openxmlformats.org/officeDocument/2006/relationships/image" Target="../media/image17.png"/><Relationship Id="rId12" Type="http://schemas.openxmlformats.org/officeDocument/2006/relationships/image" Target="../media/image5.png"/><Relationship Id="rId15" Type="http://schemas.openxmlformats.org/officeDocument/2006/relationships/image" Target="../media/image12.png"/><Relationship Id="rId14" Type="http://schemas.openxmlformats.org/officeDocument/2006/relationships/image" Target="../media/image16.png"/><Relationship Id="rId17" Type="http://schemas.openxmlformats.org/officeDocument/2006/relationships/image" Target="../media/image3.png"/><Relationship Id="rId16" Type="http://schemas.openxmlformats.org/officeDocument/2006/relationships/image" Target="../media/image9.png"/><Relationship Id="rId1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1</a:t>
            </a:r>
            <a:endParaRPr sz="1600"/>
          </a:p>
        </p:txBody>
      </p:sp>
      <p:pic>
        <p:nvPicPr>
          <p:cNvPr id="218" name="Google Shape;21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5125"/>
            <a:ext cx="8839204" cy="979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95" y="45125"/>
            <a:ext cx="1042105" cy="97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79050" y="45113"/>
            <a:ext cx="1042100" cy="104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2"/>
          <p:cNvSpPr txBox="1"/>
          <p:nvPr/>
        </p:nvSpPr>
        <p:spPr>
          <a:xfrm>
            <a:off x="152400" y="945775"/>
            <a:ext cx="42300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Student Innovation  Project - 2025</a:t>
            </a:r>
            <a:endParaRPr sz="1300">
              <a:solidFill>
                <a:schemeClr val="dk2"/>
              </a:solidFill>
              <a:latin typeface="Merriweather Medium"/>
              <a:ea typeface="Merriweather Medium"/>
              <a:cs typeface="Merriweather Medium"/>
              <a:sym typeface="Merriweather Medium"/>
            </a:endParaRPr>
          </a:p>
        </p:txBody>
      </p:sp>
      <p:sp>
        <p:nvSpPr>
          <p:cNvPr id="222" name="Google Shape;222;p32"/>
          <p:cNvSpPr txBox="1"/>
          <p:nvPr/>
        </p:nvSpPr>
        <p:spPr>
          <a:xfrm>
            <a:off x="7450975" y="1012500"/>
            <a:ext cx="23856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SIP ID - 2526S0197</a:t>
            </a:r>
            <a:endParaRPr sz="1300">
              <a:solidFill>
                <a:schemeClr val="dk2"/>
              </a:solidFill>
              <a:latin typeface="Merriweather Medium"/>
              <a:ea typeface="Merriweather Medium"/>
              <a:cs typeface="Merriweather Medium"/>
              <a:sym typeface="Merriweather Medium"/>
            </a:endParaRPr>
          </a:p>
        </p:txBody>
      </p:sp>
      <p:sp>
        <p:nvSpPr>
          <p:cNvPr id="223" name="Google Shape;223;p32"/>
          <p:cNvSpPr txBox="1"/>
          <p:nvPr/>
        </p:nvSpPr>
        <p:spPr>
          <a:xfrm>
            <a:off x="186000" y="1263988"/>
            <a:ext cx="87720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of an Intelligent On-Board Weighing Equipment (OBW) Kit using Vehicle ECU Data and AI-Driven Estimation Techniques</a:t>
            </a:r>
            <a:r>
              <a:rPr lang="en" sz="2000">
                <a:solidFill>
                  <a:srgbClr val="5B0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32"/>
          <p:cNvSpPr txBox="1"/>
          <p:nvPr/>
        </p:nvSpPr>
        <p:spPr>
          <a:xfrm>
            <a:off x="3873400" y="1886575"/>
            <a:ext cx="15549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</a:t>
            </a:r>
            <a:endParaRPr i="1"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32"/>
          <p:cNvSpPr txBox="1"/>
          <p:nvPr/>
        </p:nvSpPr>
        <p:spPr>
          <a:xfrm>
            <a:off x="155200" y="2051550"/>
            <a:ext cx="8991300" cy="2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	</a:t>
            </a:r>
            <a:r>
              <a:rPr lang="en" sz="1300">
                <a:solidFill>
                  <a:srgbClr val="4C1130"/>
                </a:solidFill>
                <a:latin typeface="Roboto Serif"/>
                <a:ea typeface="Roboto Serif"/>
                <a:cs typeface="Roboto Serif"/>
                <a:sym typeface="Roboto Serif"/>
              </a:rPr>
              <a:t>A.Govindaswamy 					O.S.Rahul 					C.Praveen Kumar</a:t>
            </a:r>
            <a:endParaRPr sz="1300">
              <a:solidFill>
                <a:srgbClr val="4C1130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" sz="900">
                <a:latin typeface="Roboto Serif"/>
                <a:ea typeface="Roboto Serif"/>
                <a:cs typeface="Roboto Serif"/>
                <a:sym typeface="Roboto Serif"/>
              </a:rPr>
              <a:t>Department of Automobile Engineering </a:t>
            </a:r>
            <a:r>
              <a:rPr lang="en" sz="1100">
                <a:latin typeface="Roboto Serif"/>
                <a:ea typeface="Roboto Serif"/>
                <a:cs typeface="Roboto Serif"/>
                <a:sym typeface="Roboto Serif"/>
              </a:rPr>
              <a:t>                                 </a:t>
            </a:r>
            <a:r>
              <a:rPr lang="en" sz="900">
                <a:latin typeface="Roboto Serif"/>
                <a:ea typeface="Roboto Serif"/>
                <a:cs typeface="Roboto Serif"/>
                <a:sym typeface="Roboto Serif"/>
              </a:rPr>
              <a:t>Department of Information Technology</a:t>
            </a:r>
            <a:r>
              <a:rPr lang="en" sz="1100">
                <a:latin typeface="Roboto Serif"/>
                <a:ea typeface="Roboto Serif"/>
                <a:cs typeface="Roboto Serif"/>
                <a:sym typeface="Roboto Serif"/>
              </a:rPr>
              <a:t>                </a:t>
            </a:r>
            <a:r>
              <a:rPr lang="en" sz="900">
                <a:latin typeface="Roboto Serif"/>
                <a:ea typeface="Roboto Serif"/>
                <a:cs typeface="Roboto Serif"/>
                <a:sym typeface="Roboto Serif"/>
              </a:rPr>
              <a:t>Department of Information Technology</a:t>
            </a:r>
            <a:endParaRPr sz="900"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 Serif"/>
                <a:ea typeface="Roboto Serif"/>
                <a:cs typeface="Roboto Serif"/>
                <a:sym typeface="Roboto Serif"/>
              </a:rPr>
              <a:t> Contact - </a:t>
            </a:r>
            <a:r>
              <a:rPr lang="en" sz="1100">
                <a:latin typeface="Roboto Serif"/>
                <a:ea typeface="Roboto Serif"/>
                <a:cs typeface="Roboto Serif"/>
                <a:sym typeface="Roboto Serif"/>
              </a:rPr>
              <a:t>+91 7598579340 				          Contact - +91 91598 12736 			  Contact - +91 6379532376</a:t>
            </a:r>
            <a:endParaRPr sz="1100"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Serif"/>
                <a:ea typeface="Roboto Serif"/>
                <a:cs typeface="Roboto Serif"/>
                <a:sym typeface="Roboto Serif"/>
              </a:rPr>
              <a:t> Email - </a:t>
            </a:r>
            <a:r>
              <a:rPr lang="en" sz="1100">
                <a:solidFill>
                  <a:schemeClr val="hlink"/>
                </a:solidFill>
                <a:uFill>
                  <a:noFill/>
                </a:uFill>
                <a:latin typeface="Roboto Serif"/>
                <a:ea typeface="Roboto Serif"/>
                <a:cs typeface="Roboto Serif"/>
                <a:sym typeface="Roboto Serif"/>
                <a:hlinkClick r:id="rId6"/>
              </a:rPr>
              <a:t>vishwa271205@gmail.com</a:t>
            </a:r>
            <a:r>
              <a:rPr lang="en" sz="1100">
                <a:latin typeface="Roboto Serif"/>
                <a:ea typeface="Roboto Serif"/>
                <a:cs typeface="Roboto Serif"/>
                <a:sym typeface="Roboto Serif"/>
              </a:rPr>
              <a:t>                                Email - </a:t>
            </a:r>
            <a:r>
              <a:rPr lang="en" sz="1100">
                <a:solidFill>
                  <a:schemeClr val="hlink"/>
                </a:solidFill>
                <a:uFill>
                  <a:noFill/>
                </a:uFill>
                <a:latin typeface="Roboto Serif"/>
                <a:ea typeface="Roboto Serif"/>
                <a:cs typeface="Roboto Serif"/>
                <a:sym typeface="Roboto Serif"/>
                <a:hlinkClick r:id="rId7"/>
              </a:rPr>
              <a:t>sundarrajrahul@gmail.com</a:t>
            </a:r>
            <a:r>
              <a:rPr lang="en" sz="1100">
                <a:latin typeface="Roboto Serif"/>
                <a:ea typeface="Roboto Serif"/>
                <a:cs typeface="Roboto Serif"/>
                <a:sym typeface="Roboto Serif"/>
              </a:rPr>
              <a:t>            Email -  </a:t>
            </a:r>
            <a:r>
              <a:rPr lang="en" sz="800">
                <a:latin typeface="Roboto Serif"/>
                <a:ea typeface="Roboto Serif"/>
                <a:cs typeface="Roboto Serif"/>
                <a:sym typeface="Roboto Serif"/>
              </a:rPr>
              <a:t>praveenchandru1209@gmail.com</a:t>
            </a:r>
            <a:r>
              <a:rPr lang="en" sz="1100">
                <a:latin typeface="Roboto Serif"/>
                <a:ea typeface="Roboto Serif"/>
                <a:cs typeface="Roboto Serif"/>
                <a:sym typeface="Roboto Serif"/>
              </a:rPr>
              <a:t>  </a:t>
            </a:r>
            <a:endParaRPr sz="1100"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Serif"/>
                <a:ea typeface="Roboto Serif"/>
                <a:cs typeface="Roboto Serif"/>
                <a:sym typeface="Roboto Serif"/>
              </a:rPr>
              <a:t>                                                                                                                 </a:t>
            </a:r>
            <a:r>
              <a:rPr i="1" lang="en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</a:t>
            </a:r>
            <a:endParaRPr i="1"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</a:t>
            </a:r>
            <a:r>
              <a:rPr lang="en" sz="1300">
                <a:solidFill>
                  <a:srgbClr val="4C1130"/>
                </a:solidFill>
                <a:latin typeface="Roboto Serif"/>
                <a:ea typeface="Roboto Serif"/>
                <a:cs typeface="Roboto Serif"/>
                <a:sym typeface="Roboto Serif"/>
              </a:rPr>
              <a:t>Mr.Vasanthan.B                                                                                           Dr.M.Hemalatha</a:t>
            </a:r>
            <a:endParaRPr sz="1300">
              <a:solidFill>
                <a:srgbClr val="4C1130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C1130"/>
                </a:solidFill>
                <a:latin typeface="Roboto Serif"/>
                <a:ea typeface="Roboto Serif"/>
                <a:cs typeface="Roboto Serif"/>
                <a:sym typeface="Roboto Serif"/>
              </a:rPr>
              <a:t>                          </a:t>
            </a:r>
            <a:r>
              <a:rPr lang="en" sz="900">
                <a:solidFill>
                  <a:schemeClr val="hlink"/>
                </a:solidFill>
                <a:latin typeface="Roboto Serif"/>
                <a:ea typeface="Roboto Serif"/>
                <a:cs typeface="Roboto Serif"/>
                <a:sym typeface="Roboto Serif"/>
              </a:rPr>
              <a:t>Assistant Professor(Sr.Gr)                                                				    	              Assistant Professor(Sr.Gr)</a:t>
            </a:r>
            <a:endParaRPr sz="900">
              <a:solidFill>
                <a:schemeClr val="hlink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hlink"/>
                </a:solidFill>
                <a:latin typeface="Roboto Serif"/>
                <a:ea typeface="Roboto Serif"/>
                <a:cs typeface="Roboto Serif"/>
                <a:sym typeface="Roboto Serif"/>
              </a:rPr>
              <a:t>        Department of Automobile Engineering,Madras Institute of Technology       Department of Information Technology,Madras Institute of Technology</a:t>
            </a:r>
            <a:endParaRPr sz="900">
              <a:solidFill>
                <a:schemeClr val="hlink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hlink"/>
                </a:solidFill>
                <a:latin typeface="Roboto Serif"/>
                <a:ea typeface="Roboto Serif"/>
                <a:cs typeface="Roboto Serif"/>
                <a:sym typeface="Roboto Serif"/>
              </a:rPr>
              <a:t>        Contact - </a:t>
            </a:r>
            <a:r>
              <a:rPr lang="en" sz="1100">
                <a:solidFill>
                  <a:schemeClr val="hlink"/>
                </a:solidFill>
                <a:latin typeface="Roboto Serif"/>
                <a:ea typeface="Roboto Serif"/>
                <a:cs typeface="Roboto Serif"/>
                <a:sym typeface="Roboto Serif"/>
              </a:rPr>
              <a:t>+91 9894864529						 Contact - +91 9884874955</a:t>
            </a:r>
            <a:endParaRPr sz="1100">
              <a:solidFill>
                <a:schemeClr val="hlink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hlink"/>
                </a:solidFill>
                <a:latin typeface="Roboto Serif"/>
                <a:ea typeface="Roboto Serif"/>
                <a:cs typeface="Roboto Serif"/>
                <a:sym typeface="Roboto Serif"/>
              </a:rPr>
              <a:t>       Email - </a:t>
            </a:r>
            <a:r>
              <a:rPr lang="en" sz="900">
                <a:solidFill>
                  <a:schemeClr val="hlink"/>
                </a:solidFill>
                <a:uFill>
                  <a:noFill/>
                </a:uFill>
                <a:latin typeface="Roboto Serif"/>
                <a:ea typeface="Roboto Serif"/>
                <a:cs typeface="Roboto Serif"/>
                <a:sym typeface="Roboto Serif"/>
                <a:hlinkClick r:id="rId8"/>
              </a:rPr>
              <a:t>bvasanthan@mitindia.edu</a:t>
            </a:r>
            <a:r>
              <a:rPr lang="en" sz="900">
                <a:solidFill>
                  <a:schemeClr val="hlink"/>
                </a:solidFill>
                <a:latin typeface="Roboto Serif"/>
                <a:ea typeface="Roboto Serif"/>
                <a:cs typeface="Roboto Serif"/>
                <a:sym typeface="Roboto Serif"/>
              </a:rPr>
              <a:t>					  Email - hemam@annauniv.edu</a:t>
            </a:r>
            <a:endParaRPr sz="900">
              <a:solidFill>
                <a:schemeClr val="hlink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2057400" y="4109750"/>
            <a:ext cx="5295900" cy="10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312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800">
                <a:solidFill>
                  <a:srgbClr val="141414"/>
                </a:solidFill>
                <a:latin typeface="Merriweather"/>
                <a:ea typeface="Merriweather"/>
                <a:cs typeface="Merriweather"/>
                <a:sym typeface="Merriweather"/>
              </a:rPr>
              <a:t>BE, 5th Semester</a:t>
            </a:r>
            <a:endParaRPr b="1" sz="800">
              <a:solidFill>
                <a:srgbClr val="14141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312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800">
                <a:solidFill>
                  <a:srgbClr val="141414"/>
                </a:solidFill>
                <a:latin typeface="Merriweather"/>
                <a:ea typeface="Merriweather"/>
                <a:cs typeface="Merriweather"/>
                <a:sym typeface="Merriweather"/>
              </a:rPr>
              <a:t>Department of Automobile Engineering &amp; Department of </a:t>
            </a:r>
            <a:r>
              <a:rPr b="1" lang="en" sz="800">
                <a:solidFill>
                  <a:srgbClr val="141414"/>
                </a:solidFill>
                <a:latin typeface="Merriweather"/>
                <a:ea typeface="Merriweather"/>
                <a:cs typeface="Merriweather"/>
                <a:sym typeface="Merriweather"/>
              </a:rPr>
              <a:t> Information  Technology </a:t>
            </a:r>
            <a:endParaRPr b="1" sz="800">
              <a:solidFill>
                <a:srgbClr val="14141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312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800">
                <a:solidFill>
                  <a:srgbClr val="141414"/>
                </a:solidFill>
                <a:latin typeface="Merriweather"/>
                <a:ea typeface="Merriweather"/>
                <a:cs typeface="Merriweather"/>
                <a:sym typeface="Merriweather"/>
              </a:rPr>
              <a:t>Madras Institute of Technology Campus, Anna University, Chennai - 600044</a:t>
            </a:r>
            <a:endParaRPr b="1" sz="800">
              <a:solidFill>
                <a:srgbClr val="14141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312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rgbClr val="14141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 txBox="1"/>
          <p:nvPr>
            <p:ph idx="1" type="subTitle"/>
          </p:nvPr>
        </p:nvSpPr>
        <p:spPr>
          <a:xfrm>
            <a:off x="197375" y="58800"/>
            <a:ext cx="3359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232" name="Google Shape;232;p33"/>
          <p:cNvSpPr txBox="1"/>
          <p:nvPr>
            <p:ph idx="1" type="subTitle"/>
          </p:nvPr>
        </p:nvSpPr>
        <p:spPr>
          <a:xfrm>
            <a:off x="5688250" y="137175"/>
            <a:ext cx="3359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Novelty</a:t>
            </a:r>
            <a:endParaRPr/>
          </a:p>
        </p:txBody>
      </p:sp>
      <p:sp>
        <p:nvSpPr>
          <p:cNvPr id="233" name="Google Shape;233;p33"/>
          <p:cNvSpPr txBox="1"/>
          <p:nvPr/>
        </p:nvSpPr>
        <p:spPr>
          <a:xfrm>
            <a:off x="5023975" y="876575"/>
            <a:ext cx="3862200" cy="3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Roboto Serif Medium"/>
              <a:buChar char="●"/>
            </a:pPr>
            <a:r>
              <a:rPr lang="en" sz="1300">
                <a:solidFill>
                  <a:schemeClr val="hlink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Achieves high estimation accuracy suitable</a:t>
            </a:r>
            <a:r>
              <a:rPr lang="en" sz="1300">
                <a:solidFill>
                  <a:schemeClr val="hlink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 for OBW applications and AIS compliance.</a:t>
            </a:r>
            <a:endParaRPr sz="1300">
              <a:solidFill>
                <a:schemeClr val="hlink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hlink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Roboto Serif Medium"/>
              <a:buChar char="●"/>
            </a:pPr>
            <a:r>
              <a:rPr lang="en" sz="1300">
                <a:solidFill>
                  <a:schemeClr val="hlink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Relies solely on standard ECU data available through the OBD-II port—no extra sensors required.</a:t>
            </a:r>
            <a:endParaRPr sz="1300">
              <a:solidFill>
                <a:schemeClr val="hlink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hlink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Roboto Serif Medium"/>
              <a:buChar char="●"/>
            </a:pPr>
            <a:r>
              <a:rPr lang="en" sz="1300">
                <a:solidFill>
                  <a:schemeClr val="hlink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Utilizes a GRU neural network architecture for advanced, real-time mass estimation.</a:t>
            </a:r>
            <a:endParaRPr sz="1300">
              <a:solidFill>
                <a:schemeClr val="hlink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hlink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Roboto Serif Medium"/>
              <a:buChar char="●"/>
            </a:pPr>
            <a:r>
              <a:rPr lang="en" sz="1300">
                <a:solidFill>
                  <a:schemeClr val="hlink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Offers a scalable, automated solution adaptable to commercial vehicles.</a:t>
            </a:r>
            <a:endParaRPr sz="1300">
              <a:solidFill>
                <a:schemeClr val="hlink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hlink"/>
              </a:solidFill>
              <a:latin typeface="Merriweather Medium"/>
              <a:ea typeface="Merriweather Medium"/>
              <a:cs typeface="Merriweather Medium"/>
              <a:sym typeface="Merriweather Medium"/>
            </a:endParaRPr>
          </a:p>
        </p:txBody>
      </p:sp>
      <p:pic>
        <p:nvPicPr>
          <p:cNvPr id="234" name="Google Shape;234;p33" title="1_LnYo1ys-ZeopAB7hEgbuzA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875" y="876575"/>
            <a:ext cx="2367476" cy="2504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5" name="Google Shape;235;p33"/>
          <p:cNvCxnSpPr>
            <a:endCxn id="236" idx="1"/>
          </p:cNvCxnSpPr>
          <p:nvPr/>
        </p:nvCxnSpPr>
        <p:spPr>
          <a:xfrm>
            <a:off x="1384250" y="2286025"/>
            <a:ext cx="640800" cy="11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33"/>
          <p:cNvSpPr txBox="1"/>
          <p:nvPr/>
        </p:nvSpPr>
        <p:spPr>
          <a:xfrm>
            <a:off x="2025050" y="3259825"/>
            <a:ext cx="30825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On-board mass estimation is vital for complying with regulation (AIS 205).</a:t>
            </a:r>
            <a:endParaRPr sz="10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33"/>
          <p:cNvSpPr txBox="1"/>
          <p:nvPr/>
        </p:nvSpPr>
        <p:spPr>
          <a:xfrm>
            <a:off x="2581950" y="2168888"/>
            <a:ext cx="256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By utilizing a </a:t>
            </a:r>
            <a:r>
              <a:rPr b="1" lang="en" sz="10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GRU-based</a:t>
            </a:r>
            <a:r>
              <a:rPr lang="en" sz="10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deep learning model to analyze real-time</a:t>
            </a:r>
            <a:r>
              <a:rPr b="1" lang="en" sz="10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 ECU data </a:t>
            </a:r>
            <a:r>
              <a:rPr lang="en" sz="10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processed on a Raspberry Pi</a:t>
            </a:r>
            <a:endParaRPr sz="800">
              <a:solidFill>
                <a:schemeClr val="dk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cxnSp>
        <p:nvCxnSpPr>
          <p:cNvPr id="238" name="Google Shape;238;p33"/>
          <p:cNvCxnSpPr>
            <a:endCxn id="237" idx="1"/>
          </p:cNvCxnSpPr>
          <p:nvPr/>
        </p:nvCxnSpPr>
        <p:spPr>
          <a:xfrm>
            <a:off x="1644450" y="1682588"/>
            <a:ext cx="937500" cy="7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33"/>
          <p:cNvSpPr txBox="1"/>
          <p:nvPr/>
        </p:nvSpPr>
        <p:spPr>
          <a:xfrm>
            <a:off x="2136425" y="3259825"/>
            <a:ext cx="631200" cy="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0" name="Google Shape;240;p33"/>
          <p:cNvSpPr txBox="1"/>
          <p:nvPr/>
        </p:nvSpPr>
        <p:spPr>
          <a:xfrm>
            <a:off x="2526350" y="1070450"/>
            <a:ext cx="25812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Resulting in an affordable </a:t>
            </a:r>
            <a:r>
              <a:rPr b="1" lang="en" sz="10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on-board weighing (OBW)</a:t>
            </a:r>
            <a:r>
              <a:rPr lang="en" sz="10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system offering real-time, accurate vehicle mass</a:t>
            </a:r>
            <a:r>
              <a:rPr lang="en" sz="120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data</a:t>
            </a:r>
            <a:endParaRPr sz="800">
              <a:solidFill>
                <a:schemeClr val="dk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cxnSp>
        <p:nvCxnSpPr>
          <p:cNvPr id="241" name="Google Shape;241;p33"/>
          <p:cNvCxnSpPr>
            <a:endCxn id="240" idx="1"/>
          </p:cNvCxnSpPr>
          <p:nvPr/>
        </p:nvCxnSpPr>
        <p:spPr>
          <a:xfrm>
            <a:off x="1542050" y="1134800"/>
            <a:ext cx="984300" cy="2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/>
          <p:nvPr/>
        </p:nvSpPr>
        <p:spPr>
          <a:xfrm>
            <a:off x="202000" y="148200"/>
            <a:ext cx="29052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Work Plan</a:t>
            </a:r>
            <a:endParaRPr sz="1500">
              <a:solidFill>
                <a:schemeClr val="dk2"/>
              </a:solidFill>
              <a:latin typeface="Merriweather ExtraBold"/>
              <a:ea typeface="Merriweather ExtraBold"/>
              <a:cs typeface="Merriweather ExtraBold"/>
              <a:sym typeface="Merriweather ExtraBold"/>
            </a:endParaRPr>
          </a:p>
        </p:txBody>
      </p:sp>
      <p:sp>
        <p:nvSpPr>
          <p:cNvPr id="247" name="Google Shape;247;p34"/>
          <p:cNvSpPr txBox="1"/>
          <p:nvPr/>
        </p:nvSpPr>
        <p:spPr>
          <a:xfrm>
            <a:off x="7909800" y="1984248"/>
            <a:ext cx="11937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4</a:t>
            </a:r>
            <a:r>
              <a:rPr baseline="30000" lang="en" sz="1300">
                <a:solidFill>
                  <a:schemeClr val="dk2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th</a:t>
            </a:r>
            <a:r>
              <a:rPr lang="en" sz="1300">
                <a:solidFill>
                  <a:schemeClr val="dk2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 Month</a:t>
            </a:r>
            <a:endParaRPr sz="1300">
              <a:solidFill>
                <a:schemeClr val="dk2"/>
              </a:solidFill>
              <a:latin typeface="Merriweather Medium"/>
              <a:ea typeface="Merriweather Medium"/>
              <a:cs typeface="Merriweather Medium"/>
              <a:sym typeface="Merriweather Medium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7909800" y="3172968"/>
            <a:ext cx="11937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5</a:t>
            </a:r>
            <a:r>
              <a:rPr baseline="30000" lang="en" sz="1300">
                <a:solidFill>
                  <a:schemeClr val="dk2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th</a:t>
            </a:r>
            <a:r>
              <a:rPr lang="en" sz="1300">
                <a:solidFill>
                  <a:schemeClr val="dk2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 Month</a:t>
            </a:r>
            <a:endParaRPr sz="1300">
              <a:solidFill>
                <a:schemeClr val="dk2"/>
              </a:solidFill>
              <a:latin typeface="Merriweather Medium"/>
              <a:ea typeface="Merriweather Medium"/>
              <a:cs typeface="Merriweather Medium"/>
              <a:sym typeface="Merriweather Medium"/>
            </a:endParaRPr>
          </a:p>
        </p:txBody>
      </p:sp>
      <p:sp>
        <p:nvSpPr>
          <p:cNvPr id="249" name="Google Shape;249;p34"/>
          <p:cNvSpPr txBox="1"/>
          <p:nvPr/>
        </p:nvSpPr>
        <p:spPr>
          <a:xfrm>
            <a:off x="7909800" y="786384"/>
            <a:ext cx="11937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3</a:t>
            </a:r>
            <a:r>
              <a:rPr baseline="30000" lang="en" sz="1300">
                <a:solidFill>
                  <a:schemeClr val="dk2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rd</a:t>
            </a:r>
            <a:r>
              <a:rPr lang="en" sz="1300">
                <a:solidFill>
                  <a:schemeClr val="dk2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 Month</a:t>
            </a:r>
            <a:endParaRPr sz="1300">
              <a:solidFill>
                <a:schemeClr val="dk2"/>
              </a:solidFill>
              <a:latin typeface="Merriweather Medium"/>
              <a:ea typeface="Merriweather Medium"/>
              <a:cs typeface="Merriweather Medium"/>
              <a:sym typeface="Merriweather Medium"/>
            </a:endParaRPr>
          </a:p>
        </p:txBody>
      </p:sp>
      <p:cxnSp>
        <p:nvCxnSpPr>
          <p:cNvPr id="250" name="Google Shape;250;p34"/>
          <p:cNvCxnSpPr>
            <a:stCxn id="249" idx="1"/>
            <a:endCxn id="251" idx="3"/>
          </p:cNvCxnSpPr>
          <p:nvPr/>
        </p:nvCxnSpPr>
        <p:spPr>
          <a:xfrm rot="10800000">
            <a:off x="7756200" y="1012584"/>
            <a:ext cx="153600" cy="1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34"/>
          <p:cNvCxnSpPr>
            <a:stCxn id="253" idx="3"/>
            <a:endCxn id="247" idx="1"/>
          </p:cNvCxnSpPr>
          <p:nvPr/>
        </p:nvCxnSpPr>
        <p:spPr>
          <a:xfrm flipH="1" rot="10800000">
            <a:off x="7756334" y="2211584"/>
            <a:ext cx="153600" cy="2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4" name="Google Shape;254;p34"/>
          <p:cNvGrpSpPr/>
          <p:nvPr/>
        </p:nvGrpSpPr>
        <p:grpSpPr>
          <a:xfrm>
            <a:off x="20949" y="698800"/>
            <a:ext cx="9082551" cy="4169624"/>
            <a:chOff x="20949" y="698800"/>
            <a:chExt cx="9082551" cy="4169624"/>
          </a:xfrm>
        </p:grpSpPr>
        <p:grpSp>
          <p:nvGrpSpPr>
            <p:cNvPr id="255" name="Google Shape;255;p34"/>
            <p:cNvGrpSpPr/>
            <p:nvPr/>
          </p:nvGrpSpPr>
          <p:grpSpPr>
            <a:xfrm>
              <a:off x="4880725" y="698800"/>
              <a:ext cx="2875610" cy="1110448"/>
              <a:chOff x="5327965" y="886764"/>
              <a:chExt cx="2507726" cy="1067020"/>
            </a:xfrm>
          </p:grpSpPr>
          <p:grpSp>
            <p:nvGrpSpPr>
              <p:cNvPr id="256" name="Google Shape;256;p34"/>
              <p:cNvGrpSpPr/>
              <p:nvPr/>
            </p:nvGrpSpPr>
            <p:grpSpPr>
              <a:xfrm>
                <a:off x="5327965" y="886764"/>
                <a:ext cx="2507726" cy="602832"/>
                <a:chOff x="640166" y="1049135"/>
                <a:chExt cx="1488000" cy="676200"/>
              </a:xfrm>
            </p:grpSpPr>
            <p:sp>
              <p:nvSpPr>
                <p:cNvPr id="251" name="Google Shape;251;p34"/>
                <p:cNvSpPr/>
                <p:nvPr/>
              </p:nvSpPr>
              <p:spPr>
                <a:xfrm>
                  <a:off x="640166" y="1049135"/>
                  <a:ext cx="1488000" cy="6762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F9CB9C"/>
                </a:solidFill>
                <a:ln cap="flat" cmpd="sng" w="87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83825" lIns="83825" spcFirstLastPara="1" rIns="83825" wrap="square" tIns="8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83"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257" name="Google Shape;257;p34"/>
                <p:cNvSpPr txBox="1"/>
                <p:nvPr/>
              </p:nvSpPr>
              <p:spPr>
                <a:xfrm>
                  <a:off x="1094867" y="1080150"/>
                  <a:ext cx="827100" cy="630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83825" lIns="83825" spcFirstLastPara="1" rIns="83825" wrap="square" tIns="83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91">
                      <a:solidFill>
                        <a:schemeClr val="dk2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ECU Data Via </a:t>
                  </a:r>
                  <a:endParaRPr sz="1191">
                    <a:solidFill>
                      <a:schemeClr val="dk2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91">
                      <a:solidFill>
                        <a:schemeClr val="dk2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OBD - II Adaptor</a:t>
                  </a:r>
                  <a:endParaRPr sz="1191">
                    <a:solidFill>
                      <a:schemeClr val="dk2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pic>
            <p:nvPicPr>
              <p:cNvPr id="258" name="Google Shape;258;p34" title="vechicles.png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408937" y="943120"/>
                <a:ext cx="682437" cy="5049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9" name="Google Shape;259;p34"/>
              <p:cNvSpPr/>
              <p:nvPr/>
            </p:nvSpPr>
            <p:spPr>
              <a:xfrm>
                <a:off x="6473444" y="1564084"/>
                <a:ext cx="337500" cy="389700"/>
              </a:xfrm>
              <a:prstGeom prst="downArrow">
                <a:avLst>
                  <a:gd fmla="val 38883" name="adj1"/>
                  <a:gd fmla="val 63207" name="adj2"/>
                </a:avLst>
              </a:prstGeom>
              <a:solidFill>
                <a:srgbClr val="F9CB9C"/>
              </a:solidFill>
              <a:ln cap="flat" cmpd="sng" w="87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3825" lIns="83825" spcFirstLastPara="1" rIns="83825" wrap="square" tIns="8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83"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60" name="Google Shape;260;p34"/>
            <p:cNvGrpSpPr/>
            <p:nvPr/>
          </p:nvGrpSpPr>
          <p:grpSpPr>
            <a:xfrm>
              <a:off x="4880724" y="1900000"/>
              <a:ext cx="2875610" cy="1111259"/>
              <a:chOff x="5327951" y="894212"/>
              <a:chExt cx="2507726" cy="1067800"/>
            </a:xfrm>
          </p:grpSpPr>
          <p:grpSp>
            <p:nvGrpSpPr>
              <p:cNvPr id="261" name="Google Shape;261;p34"/>
              <p:cNvGrpSpPr/>
              <p:nvPr/>
            </p:nvGrpSpPr>
            <p:grpSpPr>
              <a:xfrm>
                <a:off x="5327951" y="894212"/>
                <a:ext cx="2507726" cy="602832"/>
                <a:chOff x="640158" y="1057490"/>
                <a:chExt cx="1488000" cy="676200"/>
              </a:xfrm>
            </p:grpSpPr>
            <p:sp>
              <p:nvSpPr>
                <p:cNvPr id="253" name="Google Shape;253;p34"/>
                <p:cNvSpPr/>
                <p:nvPr/>
              </p:nvSpPr>
              <p:spPr>
                <a:xfrm>
                  <a:off x="640158" y="1057490"/>
                  <a:ext cx="1488000" cy="6762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F9CB9C"/>
                </a:solidFill>
                <a:ln cap="flat" cmpd="sng" w="87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83825" lIns="83825" spcFirstLastPara="1" rIns="83825" wrap="square" tIns="8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83"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262" name="Google Shape;262;p34"/>
                <p:cNvSpPr txBox="1"/>
                <p:nvPr/>
              </p:nvSpPr>
              <p:spPr>
                <a:xfrm>
                  <a:off x="1048201" y="1080151"/>
                  <a:ext cx="900900" cy="630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83825" lIns="83825" spcFirstLastPara="1" rIns="83825" wrap="square" tIns="83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91">
                      <a:solidFill>
                        <a:schemeClr val="dk2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Run the GRU in</a:t>
                  </a:r>
                  <a:endParaRPr sz="1191">
                    <a:solidFill>
                      <a:schemeClr val="dk2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91">
                      <a:solidFill>
                        <a:schemeClr val="dk2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Raspberry Pi</a:t>
                  </a:r>
                  <a:endParaRPr sz="1191">
                    <a:solidFill>
                      <a:schemeClr val="dk2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sp>
            <p:nvSpPr>
              <p:cNvPr id="263" name="Google Shape;263;p34"/>
              <p:cNvSpPr/>
              <p:nvPr/>
            </p:nvSpPr>
            <p:spPr>
              <a:xfrm>
                <a:off x="6473433" y="1572312"/>
                <a:ext cx="337500" cy="389700"/>
              </a:xfrm>
              <a:prstGeom prst="downArrow">
                <a:avLst>
                  <a:gd fmla="val 38883" name="adj1"/>
                  <a:gd fmla="val 63207" name="adj2"/>
                </a:avLst>
              </a:prstGeom>
              <a:solidFill>
                <a:srgbClr val="F9CB9C"/>
              </a:solidFill>
              <a:ln cap="flat" cmpd="sng" w="87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3825" lIns="83825" spcFirstLastPara="1" rIns="83825" wrap="square" tIns="8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83"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pic>
          <p:nvPicPr>
            <p:cNvPr id="264" name="Google Shape;264;p34" title="rpa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65192" y="1929325"/>
              <a:ext cx="680200" cy="55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34"/>
            <p:cNvPicPr preferRelativeResize="0"/>
            <p:nvPr/>
          </p:nvPicPr>
          <p:blipFill rotWithShape="1">
            <a:blip r:embed="rId5">
              <a:alphaModFix/>
            </a:blip>
            <a:srcRect b="8187" l="0" r="25650" t="13165"/>
            <a:stretch/>
          </p:blipFill>
          <p:spPr>
            <a:xfrm>
              <a:off x="7087513" y="725482"/>
              <a:ext cx="459600" cy="575400"/>
            </a:xfrm>
            <a:prstGeom prst="roundRect">
              <a:avLst>
                <a:gd fmla="val 10279" name="adj"/>
              </a:avLst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66" name="Google Shape;266;p34"/>
            <p:cNvPicPr preferRelativeResize="0"/>
            <p:nvPr/>
          </p:nvPicPr>
          <p:blipFill rotWithShape="1">
            <a:blip r:embed="rId6">
              <a:alphaModFix/>
            </a:blip>
            <a:srcRect b="11257" l="9357" r="18715" t="11265"/>
            <a:stretch/>
          </p:blipFill>
          <p:spPr>
            <a:xfrm>
              <a:off x="6913188" y="1941576"/>
              <a:ext cx="690600" cy="557100"/>
            </a:xfrm>
            <a:prstGeom prst="roundRect">
              <a:avLst>
                <a:gd fmla="val 23150" name="adj"/>
              </a:avLst>
            </a:prstGeom>
            <a:noFill/>
            <a:ln>
              <a:noFill/>
            </a:ln>
          </p:spPr>
        </p:pic>
        <p:grpSp>
          <p:nvGrpSpPr>
            <p:cNvPr id="267" name="Google Shape;267;p34"/>
            <p:cNvGrpSpPr/>
            <p:nvPr/>
          </p:nvGrpSpPr>
          <p:grpSpPr>
            <a:xfrm>
              <a:off x="4843574" y="3089587"/>
              <a:ext cx="3066110" cy="1082858"/>
              <a:chOff x="4843574" y="3089587"/>
              <a:chExt cx="3066110" cy="1082858"/>
            </a:xfrm>
          </p:grpSpPr>
          <p:grpSp>
            <p:nvGrpSpPr>
              <p:cNvPr id="268" name="Google Shape;268;p34"/>
              <p:cNvGrpSpPr/>
              <p:nvPr/>
            </p:nvGrpSpPr>
            <p:grpSpPr>
              <a:xfrm>
                <a:off x="4843574" y="3089587"/>
                <a:ext cx="2875610" cy="627368"/>
                <a:chOff x="620934" y="1053314"/>
                <a:chExt cx="1488000" cy="676200"/>
              </a:xfrm>
            </p:grpSpPr>
            <p:sp>
              <p:nvSpPr>
                <p:cNvPr id="269" name="Google Shape;269;p34"/>
                <p:cNvSpPr/>
                <p:nvPr/>
              </p:nvSpPr>
              <p:spPr>
                <a:xfrm>
                  <a:off x="620934" y="1053314"/>
                  <a:ext cx="1488000" cy="6762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F9CB9C"/>
                </a:solidFill>
                <a:ln cap="flat" cmpd="sng" w="87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83825" lIns="83825" spcFirstLastPara="1" rIns="83825" wrap="square" tIns="8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83"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270" name="Google Shape;270;p34"/>
                <p:cNvSpPr txBox="1"/>
                <p:nvPr/>
              </p:nvSpPr>
              <p:spPr>
                <a:xfrm>
                  <a:off x="953568" y="1075962"/>
                  <a:ext cx="926100" cy="630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83825" lIns="83825" spcFirstLastPara="1" rIns="83825" wrap="square" tIns="83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91">
                      <a:solidFill>
                        <a:schemeClr val="dk2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Display the mass </a:t>
                  </a:r>
                  <a:endParaRPr sz="1191">
                    <a:solidFill>
                      <a:schemeClr val="dk2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91">
                      <a:solidFill>
                        <a:schemeClr val="dk2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On LCD display</a:t>
                  </a:r>
                  <a:endParaRPr sz="1191">
                    <a:solidFill>
                      <a:schemeClr val="dk2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sp>
            <p:nvSpPr>
              <p:cNvPr id="271" name="Google Shape;271;p34"/>
              <p:cNvSpPr/>
              <p:nvPr/>
            </p:nvSpPr>
            <p:spPr>
              <a:xfrm>
                <a:off x="6194247" y="3766885"/>
                <a:ext cx="387011" cy="405561"/>
              </a:xfrm>
              <a:prstGeom prst="downArrow">
                <a:avLst>
                  <a:gd fmla="val 38883" name="adj1"/>
                  <a:gd fmla="val 63207" name="adj2"/>
                </a:avLst>
              </a:prstGeom>
              <a:solidFill>
                <a:srgbClr val="F9CB9C"/>
              </a:solidFill>
              <a:ln cap="flat" cmpd="sng" w="87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3825" lIns="83825" spcFirstLastPara="1" rIns="83825" wrap="square" tIns="8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83"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pic>
            <p:nvPicPr>
              <p:cNvPr id="272" name="Google Shape;272;p34" title="software.png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4937760" y="3144389"/>
                <a:ext cx="546525" cy="52550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73" name="Google Shape;273;p34"/>
              <p:cNvCxnSpPr>
                <a:stCxn id="269" idx="3"/>
                <a:endCxn id="248" idx="1"/>
              </p:cNvCxnSpPr>
              <p:nvPr/>
            </p:nvCxnSpPr>
            <p:spPr>
              <a:xfrm flipH="1" rot="10800000">
                <a:off x="7719184" y="3400271"/>
                <a:ext cx="190500" cy="3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id="274" name="Google Shape;274;p34"/>
              <p:cNvPicPr preferRelativeResize="0"/>
              <p:nvPr/>
            </p:nvPicPr>
            <p:blipFill rotWithShape="1">
              <a:blip r:embed="rId8">
                <a:alphaModFix/>
              </a:blip>
              <a:srcRect b="22892" l="0" r="0" t="28597"/>
              <a:stretch/>
            </p:blipFill>
            <p:spPr>
              <a:xfrm>
                <a:off x="6748275" y="3182112"/>
                <a:ext cx="908700" cy="454800"/>
              </a:xfrm>
              <a:prstGeom prst="roundRect">
                <a:avLst>
                  <a:gd fmla="val 21328" name="adj"/>
                </a:avLst>
              </a:prstGeom>
              <a:noFill/>
              <a:ln>
                <a:noFill/>
              </a:ln>
            </p:spPr>
          </p:pic>
        </p:grpSp>
        <p:grpSp>
          <p:nvGrpSpPr>
            <p:cNvPr id="275" name="Google Shape;275;p34"/>
            <p:cNvGrpSpPr/>
            <p:nvPr/>
          </p:nvGrpSpPr>
          <p:grpSpPr>
            <a:xfrm>
              <a:off x="20949" y="707699"/>
              <a:ext cx="4859776" cy="4151804"/>
              <a:chOff x="20949" y="707699"/>
              <a:chExt cx="4859776" cy="4151804"/>
            </a:xfrm>
          </p:grpSpPr>
          <p:sp>
            <p:nvSpPr>
              <p:cNvPr id="276" name="Google Shape;276;p34"/>
              <p:cNvSpPr/>
              <p:nvPr/>
            </p:nvSpPr>
            <p:spPr>
              <a:xfrm>
                <a:off x="1305259" y="2673162"/>
                <a:ext cx="387011" cy="405561"/>
              </a:xfrm>
              <a:prstGeom prst="downArrow">
                <a:avLst>
                  <a:gd fmla="val 50000" name="adj1"/>
                  <a:gd fmla="val 50000" name="adj2"/>
                </a:avLst>
              </a:prstGeom>
              <a:solidFill>
                <a:srgbClr val="F9CB9C"/>
              </a:solidFill>
              <a:ln cap="flat" cmpd="sng" w="87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3825" lIns="83825" spcFirstLastPara="1" rIns="83825" wrap="square" tIns="8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83"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77" name="Google Shape;277;p34"/>
              <p:cNvSpPr/>
              <p:nvPr/>
            </p:nvSpPr>
            <p:spPr>
              <a:xfrm>
                <a:off x="1325464" y="1462155"/>
                <a:ext cx="387011" cy="405561"/>
              </a:xfrm>
              <a:prstGeom prst="downArrow">
                <a:avLst>
                  <a:gd fmla="val 50000" name="adj1"/>
                  <a:gd fmla="val 50000" name="adj2"/>
                </a:avLst>
              </a:prstGeom>
              <a:solidFill>
                <a:srgbClr val="F9CB9C"/>
              </a:solidFill>
              <a:ln cap="flat" cmpd="sng" w="87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3825" lIns="83825" spcFirstLastPara="1" rIns="83825" wrap="square" tIns="8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83"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78" name="Google Shape;278;p34"/>
              <p:cNvSpPr/>
              <p:nvPr/>
            </p:nvSpPr>
            <p:spPr>
              <a:xfrm>
                <a:off x="1325462" y="3884403"/>
                <a:ext cx="387011" cy="405561"/>
              </a:xfrm>
              <a:prstGeom prst="downArrow">
                <a:avLst>
                  <a:gd fmla="val 50000" name="adj1"/>
                  <a:gd fmla="val 50000" name="adj2"/>
                </a:avLst>
              </a:prstGeom>
              <a:solidFill>
                <a:srgbClr val="F9CB9C"/>
              </a:solidFill>
              <a:ln cap="flat" cmpd="sng" w="87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3825" lIns="83825" spcFirstLastPara="1" rIns="83825" wrap="square" tIns="8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83"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cxnSp>
            <p:nvCxnSpPr>
              <p:cNvPr id="279" name="Google Shape;279;p34"/>
              <p:cNvCxnSpPr/>
              <p:nvPr/>
            </p:nvCxnSpPr>
            <p:spPr>
              <a:xfrm>
                <a:off x="3414500" y="1450300"/>
                <a:ext cx="315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0" name="Google Shape;280;p34"/>
              <p:cNvSpPr txBox="1"/>
              <p:nvPr/>
            </p:nvSpPr>
            <p:spPr>
              <a:xfrm>
                <a:off x="3687025" y="1218300"/>
                <a:ext cx="1193700" cy="45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dk2"/>
                    </a:solidFill>
                    <a:latin typeface="Merriweather Medium"/>
                    <a:ea typeface="Merriweather Medium"/>
                    <a:cs typeface="Merriweather Medium"/>
                    <a:sym typeface="Merriweather Medium"/>
                  </a:rPr>
                  <a:t>1</a:t>
                </a:r>
                <a:r>
                  <a:rPr baseline="30000" lang="en" sz="1300">
                    <a:solidFill>
                      <a:schemeClr val="dk2"/>
                    </a:solidFill>
                    <a:latin typeface="Merriweather Medium"/>
                    <a:ea typeface="Merriweather Medium"/>
                    <a:cs typeface="Merriweather Medium"/>
                    <a:sym typeface="Merriweather Medium"/>
                  </a:rPr>
                  <a:t>st</a:t>
                </a:r>
                <a:r>
                  <a:rPr lang="en" sz="1300">
                    <a:solidFill>
                      <a:schemeClr val="dk2"/>
                    </a:solidFill>
                    <a:latin typeface="Merriweather Medium"/>
                    <a:ea typeface="Merriweather Medium"/>
                    <a:cs typeface="Merriweather Medium"/>
                    <a:sym typeface="Merriweather Medium"/>
                  </a:rPr>
                  <a:t> Month</a:t>
                </a:r>
                <a:endParaRPr sz="1300">
                  <a:solidFill>
                    <a:schemeClr val="dk2"/>
                  </a:solidFill>
                  <a:latin typeface="Merriweather Medium"/>
                  <a:ea typeface="Merriweather Medium"/>
                  <a:cs typeface="Merriweather Medium"/>
                  <a:sym typeface="Merriweather Medium"/>
                </a:endParaRPr>
              </a:p>
            </p:txBody>
          </p:sp>
          <p:cxnSp>
            <p:nvCxnSpPr>
              <p:cNvPr id="281" name="Google Shape;281;p34"/>
              <p:cNvCxnSpPr/>
              <p:nvPr/>
            </p:nvCxnSpPr>
            <p:spPr>
              <a:xfrm>
                <a:off x="3371425" y="3977775"/>
                <a:ext cx="315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2" name="Google Shape;282;p34"/>
              <p:cNvSpPr txBox="1"/>
              <p:nvPr/>
            </p:nvSpPr>
            <p:spPr>
              <a:xfrm>
                <a:off x="3687025" y="3750775"/>
                <a:ext cx="1193700" cy="70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dk2"/>
                    </a:solidFill>
                    <a:latin typeface="Merriweather Medium"/>
                    <a:ea typeface="Merriweather Medium"/>
                    <a:cs typeface="Merriweather Medium"/>
                    <a:sym typeface="Merriweather Medium"/>
                  </a:rPr>
                  <a:t>2</a:t>
                </a:r>
                <a:r>
                  <a:rPr baseline="30000" lang="en" sz="1300">
                    <a:solidFill>
                      <a:schemeClr val="dk2"/>
                    </a:solidFill>
                    <a:latin typeface="Merriweather Medium"/>
                    <a:ea typeface="Merriweather Medium"/>
                    <a:cs typeface="Merriweather Medium"/>
                    <a:sym typeface="Merriweather Medium"/>
                  </a:rPr>
                  <a:t>nd</a:t>
                </a:r>
                <a:r>
                  <a:rPr lang="en" sz="1300">
                    <a:solidFill>
                      <a:schemeClr val="dk2"/>
                    </a:solidFill>
                    <a:latin typeface="Merriweather Medium"/>
                    <a:ea typeface="Merriweather Medium"/>
                    <a:cs typeface="Merriweather Medium"/>
                    <a:sym typeface="Merriweather Medium"/>
                  </a:rPr>
                  <a:t> Month</a:t>
                </a:r>
                <a:endParaRPr sz="1300">
                  <a:solidFill>
                    <a:schemeClr val="dk2"/>
                  </a:solidFill>
                  <a:latin typeface="Merriweather Medium"/>
                  <a:ea typeface="Merriweather Medium"/>
                  <a:cs typeface="Merriweather Medium"/>
                  <a:sym typeface="Merriweather Medium"/>
                </a:endParaRPr>
              </a:p>
            </p:txBody>
          </p:sp>
          <p:grpSp>
            <p:nvGrpSpPr>
              <p:cNvPr id="283" name="Google Shape;283;p34"/>
              <p:cNvGrpSpPr/>
              <p:nvPr/>
            </p:nvGrpSpPr>
            <p:grpSpPr>
              <a:xfrm>
                <a:off x="60826" y="3933075"/>
                <a:ext cx="3353674" cy="926429"/>
                <a:chOff x="60826" y="3933075"/>
                <a:chExt cx="3353674" cy="926429"/>
              </a:xfrm>
            </p:grpSpPr>
            <p:grpSp>
              <p:nvGrpSpPr>
                <p:cNvPr id="284" name="Google Shape;284;p34"/>
                <p:cNvGrpSpPr/>
                <p:nvPr/>
              </p:nvGrpSpPr>
              <p:grpSpPr>
                <a:xfrm>
                  <a:off x="60826" y="4273798"/>
                  <a:ext cx="2875861" cy="585706"/>
                  <a:chOff x="731875" y="1057509"/>
                  <a:chExt cx="1584900" cy="562800"/>
                </a:xfrm>
              </p:grpSpPr>
              <p:sp>
                <p:nvSpPr>
                  <p:cNvPr id="285" name="Google Shape;285;p34"/>
                  <p:cNvSpPr/>
                  <p:nvPr/>
                </p:nvSpPr>
                <p:spPr>
                  <a:xfrm>
                    <a:off x="731875" y="1057509"/>
                    <a:ext cx="1584900" cy="562800"/>
                  </a:xfrm>
                  <a:prstGeom prst="roundRect">
                    <a:avLst>
                      <a:gd fmla="val 16667" name="adj"/>
                    </a:avLst>
                  </a:prstGeom>
                  <a:solidFill>
                    <a:srgbClr val="F9CB9C"/>
                  </a:solidFill>
                  <a:ln cap="flat" cmpd="sng" w="87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83825" lIns="83825" spcFirstLastPara="1" rIns="83825" wrap="square" tIns="83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283">
                      <a:latin typeface="DM Sans"/>
                      <a:ea typeface="DM Sans"/>
                      <a:cs typeface="DM Sans"/>
                      <a:sym typeface="DM Sans"/>
                    </a:endParaRPr>
                  </a:p>
                </p:txBody>
              </p:sp>
              <p:sp>
                <p:nvSpPr>
                  <p:cNvPr id="286" name="Google Shape;286;p34"/>
                  <p:cNvSpPr txBox="1"/>
                  <p:nvPr/>
                </p:nvSpPr>
                <p:spPr>
                  <a:xfrm>
                    <a:off x="1072729" y="1122034"/>
                    <a:ext cx="959400" cy="434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83825" lIns="83825" spcFirstLastPara="1" rIns="83825" wrap="square" tIns="838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191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Save GRU Model in Raspberry Pi</a:t>
                    </a:r>
                    <a:endParaRPr sz="1191">
                      <a:solidFill>
                        <a:schemeClr val="dk2"/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  <p:pic>
              <p:nvPicPr>
                <p:cNvPr id="287" name="Google Shape;287;p34" title="deployment.png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2209" l="0" r="0" t="-2210"/>
                <a:stretch/>
              </p:blipFill>
              <p:spPr>
                <a:xfrm>
                  <a:off x="101716" y="4288536"/>
                  <a:ext cx="577184" cy="557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288" name="Google Shape;288;p34"/>
                <p:cNvCxnSpPr/>
                <p:nvPr/>
              </p:nvCxnSpPr>
              <p:spPr>
                <a:xfrm rot="-5400000">
                  <a:off x="2790050" y="4097925"/>
                  <a:ext cx="789300" cy="459600"/>
                </a:xfrm>
                <a:prstGeom prst="curvedConnector3">
                  <a:avLst>
                    <a:gd fmla="val 50000" name="adj1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id="289" name="Google Shape;289;p34"/>
                <p:cNvPicPr preferRelativeResize="0"/>
                <p:nvPr/>
              </p:nvPicPr>
              <p:blipFill>
                <a:blip r:embed="rId10">
                  <a:alphaModFix/>
                </a:blip>
                <a:stretch>
                  <a:fillRect/>
                </a:stretch>
              </p:blipFill>
              <p:spPr>
                <a:xfrm>
                  <a:off x="2103120" y="4297680"/>
                  <a:ext cx="743700" cy="557100"/>
                </a:xfrm>
                <a:prstGeom prst="roundRect">
                  <a:avLst>
                    <a:gd fmla="val 28673" name="adj"/>
                  </a:avLst>
                </a:prstGeom>
                <a:noFill/>
                <a:ln>
                  <a:noFill/>
                </a:ln>
              </p:spPr>
            </p:pic>
          </p:grpSp>
          <p:grpSp>
            <p:nvGrpSpPr>
              <p:cNvPr id="290" name="Google Shape;290;p34"/>
              <p:cNvGrpSpPr/>
              <p:nvPr/>
            </p:nvGrpSpPr>
            <p:grpSpPr>
              <a:xfrm>
                <a:off x="134205" y="707699"/>
                <a:ext cx="3277895" cy="756163"/>
                <a:chOff x="134205" y="707699"/>
                <a:chExt cx="3277895" cy="756163"/>
              </a:xfrm>
            </p:grpSpPr>
            <p:grpSp>
              <p:nvGrpSpPr>
                <p:cNvPr id="291" name="Google Shape;291;p34"/>
                <p:cNvGrpSpPr/>
                <p:nvPr/>
              </p:nvGrpSpPr>
              <p:grpSpPr>
                <a:xfrm>
                  <a:off x="134205" y="707699"/>
                  <a:ext cx="3154068" cy="703721"/>
                  <a:chOff x="731868" y="1057499"/>
                  <a:chExt cx="1773183" cy="676200"/>
                </a:xfrm>
              </p:grpSpPr>
              <p:sp>
                <p:nvSpPr>
                  <p:cNvPr id="292" name="Google Shape;292;p34"/>
                  <p:cNvSpPr txBox="1"/>
                  <p:nvPr/>
                </p:nvSpPr>
                <p:spPr>
                  <a:xfrm>
                    <a:off x="1654551" y="1080152"/>
                    <a:ext cx="850500" cy="6309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83825" lIns="83825" spcFirstLastPara="1" rIns="83825" wrap="square" tIns="838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191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Data</a:t>
                    </a:r>
                    <a:endParaRPr sz="1191">
                      <a:solidFill>
                        <a:schemeClr val="dk2"/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191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Collection</a:t>
                    </a:r>
                    <a:endParaRPr sz="1191">
                      <a:solidFill>
                        <a:schemeClr val="dk2"/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293" name="Google Shape;293;p34"/>
                  <p:cNvSpPr/>
                  <p:nvPr/>
                </p:nvSpPr>
                <p:spPr>
                  <a:xfrm>
                    <a:off x="731868" y="1057499"/>
                    <a:ext cx="1557000" cy="676200"/>
                  </a:xfrm>
                  <a:prstGeom prst="roundRect">
                    <a:avLst>
                      <a:gd fmla="val 16667" name="adj"/>
                    </a:avLst>
                  </a:prstGeom>
                  <a:solidFill>
                    <a:srgbClr val="F9CB9C"/>
                  </a:solidFill>
                  <a:ln cap="flat" cmpd="sng" w="87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83825" lIns="83825" spcFirstLastPara="1" rIns="83825" wrap="square" tIns="83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283">
                      <a:latin typeface="DM Sans"/>
                      <a:ea typeface="DM Sans"/>
                      <a:cs typeface="DM Sans"/>
                      <a:sym typeface="DM Sans"/>
                    </a:endParaRPr>
                  </a:p>
                </p:txBody>
              </p:sp>
              <p:pic>
                <p:nvPicPr>
                  <p:cNvPr id="294" name="Google Shape;294;p34" title="data-collection.png"/>
                  <p:cNvPicPr preferRelativeResize="0"/>
                  <p:nvPr/>
                </p:nvPicPr>
                <p:blipFill>
                  <a:blip r:embed="rId11">
                    <a:alphaModFix/>
                  </a:blip>
                  <a:stretch>
                    <a:fillRect/>
                  </a:stretch>
                </p:blipFill>
                <p:spPr>
                  <a:xfrm>
                    <a:off x="759233" y="1102325"/>
                    <a:ext cx="382426" cy="5628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sp>
              <p:nvSpPr>
                <p:cNvPr id="295" name="Google Shape;295;p34"/>
                <p:cNvSpPr txBox="1"/>
                <p:nvPr/>
              </p:nvSpPr>
              <p:spPr>
                <a:xfrm>
                  <a:off x="914400" y="763375"/>
                  <a:ext cx="1193700" cy="55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83825" lIns="83825" spcFirstLastPara="1" rIns="83825" wrap="square" tIns="83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91">
                      <a:solidFill>
                        <a:schemeClr val="dk2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Data</a:t>
                  </a:r>
                  <a:endParaRPr sz="1191">
                    <a:solidFill>
                      <a:schemeClr val="dk2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91">
                      <a:solidFill>
                        <a:schemeClr val="dk2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Collection</a:t>
                  </a:r>
                  <a:endParaRPr sz="1191">
                    <a:solidFill>
                      <a:schemeClr val="dk2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cxnSp>
              <p:nvCxnSpPr>
                <p:cNvPr id="296" name="Google Shape;296;p34"/>
                <p:cNvCxnSpPr/>
                <p:nvPr/>
              </p:nvCxnSpPr>
              <p:spPr>
                <a:xfrm flipH="1" rot="-5400000">
                  <a:off x="2834450" y="886213"/>
                  <a:ext cx="700500" cy="454800"/>
                </a:xfrm>
                <a:prstGeom prst="curvedConnector3">
                  <a:avLst>
                    <a:gd fmla="val 50000" name="adj1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id="297" name="Google Shape;297;p34"/>
                <p:cNvPicPr preferRelativeResize="0"/>
                <p:nvPr/>
              </p:nvPicPr>
              <p:blipFill>
                <a:blip r:embed="rId12">
                  <a:alphaModFix/>
                </a:blip>
                <a:stretch>
                  <a:fillRect/>
                </a:stretch>
              </p:blipFill>
              <p:spPr>
                <a:xfrm>
                  <a:off x="1920240" y="731520"/>
                  <a:ext cx="828000" cy="645900"/>
                </a:xfrm>
                <a:prstGeom prst="roundRect">
                  <a:avLst>
                    <a:gd fmla="val 21213" name="adj"/>
                  </a:avLst>
                </a:prstGeom>
                <a:noFill/>
                <a:ln>
                  <a:noFill/>
                </a:ln>
              </p:spPr>
            </p:pic>
          </p:grpSp>
          <p:grpSp>
            <p:nvGrpSpPr>
              <p:cNvPr id="298" name="Google Shape;298;p34"/>
              <p:cNvGrpSpPr/>
              <p:nvPr/>
            </p:nvGrpSpPr>
            <p:grpSpPr>
              <a:xfrm>
                <a:off x="133659" y="1450300"/>
                <a:ext cx="3280841" cy="1171870"/>
                <a:chOff x="133659" y="1450300"/>
                <a:chExt cx="3280841" cy="1171870"/>
              </a:xfrm>
            </p:grpSpPr>
            <p:grpSp>
              <p:nvGrpSpPr>
                <p:cNvPr id="299" name="Google Shape;299;p34"/>
                <p:cNvGrpSpPr/>
                <p:nvPr/>
              </p:nvGrpSpPr>
              <p:grpSpPr>
                <a:xfrm>
                  <a:off x="133659" y="1918449"/>
                  <a:ext cx="2769531" cy="703721"/>
                  <a:chOff x="686192" y="2134636"/>
                  <a:chExt cx="1557000" cy="676200"/>
                </a:xfrm>
              </p:grpSpPr>
              <p:grpSp>
                <p:nvGrpSpPr>
                  <p:cNvPr id="300" name="Google Shape;300;p34"/>
                  <p:cNvGrpSpPr/>
                  <p:nvPr/>
                </p:nvGrpSpPr>
                <p:grpSpPr>
                  <a:xfrm>
                    <a:off x="686192" y="2134636"/>
                    <a:ext cx="1557000" cy="676200"/>
                    <a:chOff x="731879" y="1057499"/>
                    <a:chExt cx="1557000" cy="676200"/>
                  </a:xfrm>
                </p:grpSpPr>
                <p:sp>
                  <p:nvSpPr>
                    <p:cNvPr id="301" name="Google Shape;301;p34"/>
                    <p:cNvSpPr/>
                    <p:nvPr/>
                  </p:nvSpPr>
                  <p:spPr>
                    <a:xfrm>
                      <a:off x="731879" y="1057499"/>
                      <a:ext cx="1557000" cy="676200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F9CB9C"/>
                    </a:solidFill>
                    <a:ln cap="flat" cmpd="sng" w="87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83825" lIns="83825" spcFirstLastPara="1" rIns="83825" wrap="square" tIns="83825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83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p:txBody>
                </p:sp>
                <p:sp>
                  <p:nvSpPr>
                    <p:cNvPr id="302" name="Google Shape;302;p34"/>
                    <p:cNvSpPr txBox="1"/>
                    <p:nvPr/>
                  </p:nvSpPr>
                  <p:spPr>
                    <a:xfrm>
                      <a:off x="1222210" y="1087888"/>
                      <a:ext cx="671100" cy="6309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83825" lIns="83825" spcFirstLastPara="1" rIns="83825" wrap="square" tIns="838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91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</a:t>
                      </a:r>
                      <a:endParaRPr sz="1191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91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Cleaning</a:t>
                      </a:r>
                      <a:endParaRPr sz="1191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p:txBody>
                </p:sp>
              </p:grpSp>
              <p:pic>
                <p:nvPicPr>
                  <p:cNvPr id="303" name="Google Shape;303;p34" title="data-cleaning.png"/>
                  <p:cNvPicPr preferRelativeResize="0"/>
                  <p:nvPr/>
                </p:nvPicPr>
                <p:blipFill>
                  <a:blip r:embed="rId13">
                    <a:alphaModFix/>
                  </a:blip>
                  <a:stretch>
                    <a:fillRect/>
                  </a:stretch>
                </p:blipFill>
                <p:spPr>
                  <a:xfrm>
                    <a:off x="709589" y="2171943"/>
                    <a:ext cx="476376" cy="60207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cxnSp>
              <p:nvCxnSpPr>
                <p:cNvPr id="304" name="Google Shape;304;p34"/>
                <p:cNvCxnSpPr/>
                <p:nvPr/>
              </p:nvCxnSpPr>
              <p:spPr>
                <a:xfrm rot="-5400000">
                  <a:off x="2790050" y="1615150"/>
                  <a:ext cx="789300" cy="459600"/>
                </a:xfrm>
                <a:prstGeom prst="curvedConnector3">
                  <a:avLst>
                    <a:gd fmla="val 50000" name="adj1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05" name="Google Shape;305;p34"/>
              <p:cNvGrpSpPr/>
              <p:nvPr/>
            </p:nvGrpSpPr>
            <p:grpSpPr>
              <a:xfrm>
                <a:off x="20949" y="3129700"/>
                <a:ext cx="3406762" cy="848086"/>
                <a:chOff x="20949" y="3129700"/>
                <a:chExt cx="3406762" cy="848086"/>
              </a:xfrm>
            </p:grpSpPr>
            <p:grpSp>
              <p:nvGrpSpPr>
                <p:cNvPr id="306" name="Google Shape;306;p34"/>
                <p:cNvGrpSpPr/>
                <p:nvPr/>
              </p:nvGrpSpPr>
              <p:grpSpPr>
                <a:xfrm>
                  <a:off x="20949" y="3129700"/>
                  <a:ext cx="2905073" cy="703721"/>
                  <a:chOff x="668479" y="1057505"/>
                  <a:chExt cx="1633200" cy="676200"/>
                </a:xfrm>
              </p:grpSpPr>
              <p:sp>
                <p:nvSpPr>
                  <p:cNvPr id="307" name="Google Shape;307;p34"/>
                  <p:cNvSpPr/>
                  <p:nvPr/>
                </p:nvSpPr>
                <p:spPr>
                  <a:xfrm>
                    <a:off x="668479" y="1057505"/>
                    <a:ext cx="1633200" cy="676200"/>
                  </a:xfrm>
                  <a:prstGeom prst="roundRect">
                    <a:avLst>
                      <a:gd fmla="val 16667" name="adj"/>
                    </a:avLst>
                  </a:prstGeom>
                  <a:solidFill>
                    <a:srgbClr val="F9CB9C"/>
                  </a:solidFill>
                  <a:ln cap="flat" cmpd="sng" w="87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83825" lIns="83825" spcFirstLastPara="1" rIns="83825" wrap="square" tIns="83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283">
                      <a:latin typeface="DM Sans"/>
                      <a:ea typeface="DM Sans"/>
                      <a:cs typeface="DM Sans"/>
                      <a:sym typeface="DM Sans"/>
                    </a:endParaRPr>
                  </a:p>
                </p:txBody>
              </p:sp>
              <p:sp>
                <p:nvSpPr>
                  <p:cNvPr id="308" name="Google Shape;308;p34"/>
                  <p:cNvSpPr txBox="1"/>
                  <p:nvPr/>
                </p:nvSpPr>
                <p:spPr>
                  <a:xfrm>
                    <a:off x="1067930" y="1132934"/>
                    <a:ext cx="886800" cy="525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83825" lIns="83825" spcFirstLastPara="1" rIns="83825" wrap="square" tIns="838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191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Train the</a:t>
                    </a:r>
                    <a:endParaRPr sz="1191">
                      <a:solidFill>
                        <a:schemeClr val="dk2"/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191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GRU Model</a:t>
                    </a:r>
                    <a:endParaRPr sz="1191">
                      <a:solidFill>
                        <a:schemeClr val="dk2"/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  <p:pic>
              <p:nvPicPr>
                <p:cNvPr id="309" name="Google Shape;309;p34" title="cognition.png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91440" y="3200349"/>
                  <a:ext cx="645407" cy="5467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310" name="Google Shape;310;p34"/>
                <p:cNvCxnSpPr/>
                <p:nvPr/>
              </p:nvCxnSpPr>
              <p:spPr>
                <a:xfrm flipH="1" rot="-5400000">
                  <a:off x="2913362" y="3463436"/>
                  <a:ext cx="542700" cy="486000"/>
                </a:xfrm>
                <a:prstGeom prst="curvedConnector3">
                  <a:avLst>
                    <a:gd fmla="val 37938" name="adj1"/>
                  </a:avLst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11" name="Google Shape;311;p34"/>
            <p:cNvGrpSpPr/>
            <p:nvPr/>
          </p:nvGrpSpPr>
          <p:grpSpPr>
            <a:xfrm>
              <a:off x="4843555" y="4222379"/>
              <a:ext cx="4259945" cy="646046"/>
              <a:chOff x="4843555" y="4222379"/>
              <a:chExt cx="4259945" cy="646046"/>
            </a:xfrm>
          </p:grpSpPr>
          <p:grpSp>
            <p:nvGrpSpPr>
              <p:cNvPr id="312" name="Google Shape;312;p34"/>
              <p:cNvGrpSpPr/>
              <p:nvPr/>
            </p:nvGrpSpPr>
            <p:grpSpPr>
              <a:xfrm>
                <a:off x="4843555" y="4222379"/>
                <a:ext cx="2875560" cy="646046"/>
                <a:chOff x="618642" y="1003271"/>
                <a:chExt cx="1488000" cy="696320"/>
              </a:xfrm>
            </p:grpSpPr>
            <p:sp>
              <p:nvSpPr>
                <p:cNvPr id="313" name="Google Shape;313;p34"/>
                <p:cNvSpPr/>
                <p:nvPr/>
              </p:nvSpPr>
              <p:spPr>
                <a:xfrm>
                  <a:off x="618642" y="1003271"/>
                  <a:ext cx="1488000" cy="6762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F9CB9C"/>
                </a:solidFill>
                <a:ln cap="flat" cmpd="sng" w="87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83825" lIns="83825" spcFirstLastPara="1" rIns="83825" wrap="square" tIns="8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283"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314" name="Google Shape;314;p34"/>
                <p:cNvSpPr txBox="1"/>
                <p:nvPr/>
              </p:nvSpPr>
              <p:spPr>
                <a:xfrm>
                  <a:off x="951291" y="1068691"/>
                  <a:ext cx="763800" cy="630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83825" lIns="83825" spcFirstLastPara="1" rIns="83825" wrap="square" tIns="83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91">
                      <a:solidFill>
                        <a:schemeClr val="dk2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Store the Result</a:t>
                  </a:r>
                  <a:endParaRPr sz="1191">
                    <a:solidFill>
                      <a:schemeClr val="dk2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91">
                      <a:solidFill>
                        <a:schemeClr val="dk2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On SD Card</a:t>
                  </a:r>
                  <a:endParaRPr sz="1191">
                    <a:solidFill>
                      <a:schemeClr val="dk2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pic>
            <p:nvPicPr>
              <p:cNvPr id="315" name="Google Shape;315;p34" title="download.png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4846320" y="4279151"/>
                <a:ext cx="585750" cy="5466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6" name="Google Shape;316;p34"/>
              <p:cNvSpPr txBox="1"/>
              <p:nvPr/>
            </p:nvSpPr>
            <p:spPr>
              <a:xfrm>
                <a:off x="7909800" y="4306824"/>
                <a:ext cx="1193700" cy="45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chemeClr val="dk2"/>
                    </a:solidFill>
                    <a:latin typeface="Merriweather Medium"/>
                    <a:ea typeface="Merriweather Medium"/>
                    <a:cs typeface="Merriweather Medium"/>
                    <a:sym typeface="Merriweather Medium"/>
                  </a:rPr>
                  <a:t>6</a:t>
                </a:r>
                <a:r>
                  <a:rPr baseline="30000" lang="en" sz="1300">
                    <a:solidFill>
                      <a:schemeClr val="dk2"/>
                    </a:solidFill>
                    <a:latin typeface="Merriweather Medium"/>
                    <a:ea typeface="Merriweather Medium"/>
                    <a:cs typeface="Merriweather Medium"/>
                    <a:sym typeface="Merriweather Medium"/>
                  </a:rPr>
                  <a:t>th</a:t>
                </a:r>
                <a:r>
                  <a:rPr lang="en" sz="1300">
                    <a:solidFill>
                      <a:schemeClr val="dk2"/>
                    </a:solidFill>
                    <a:latin typeface="Merriweather Medium"/>
                    <a:ea typeface="Merriweather Medium"/>
                    <a:cs typeface="Merriweather Medium"/>
                    <a:sym typeface="Merriweather Medium"/>
                  </a:rPr>
                  <a:t> Month</a:t>
                </a:r>
                <a:endParaRPr sz="1300">
                  <a:solidFill>
                    <a:schemeClr val="dk2"/>
                  </a:solidFill>
                  <a:latin typeface="Merriweather Medium"/>
                  <a:ea typeface="Merriweather Medium"/>
                  <a:cs typeface="Merriweather Medium"/>
                  <a:sym typeface="Merriweather Medium"/>
                </a:endParaRPr>
              </a:p>
            </p:txBody>
          </p:sp>
          <p:cxnSp>
            <p:nvCxnSpPr>
              <p:cNvPr id="317" name="Google Shape;317;p34"/>
              <p:cNvCxnSpPr>
                <a:stCxn id="313" idx="3"/>
                <a:endCxn id="316" idx="1"/>
              </p:cNvCxnSpPr>
              <p:nvPr/>
            </p:nvCxnSpPr>
            <p:spPr>
              <a:xfrm flipH="1" rot="10800000">
                <a:off x="7719115" y="4534268"/>
                <a:ext cx="190800" cy="1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id="318" name="Google Shape;318;p34"/>
              <p:cNvPicPr preferRelativeResize="0"/>
              <p:nvPr/>
            </p:nvPicPr>
            <p:blipFill rotWithShape="1">
              <a:blip r:embed="rId16">
                <a:alphaModFix/>
              </a:blip>
              <a:srcRect b="0" l="66341" r="0" t="34378"/>
              <a:stretch/>
            </p:blipFill>
            <p:spPr>
              <a:xfrm rot="-5400000">
                <a:off x="6937575" y="4112916"/>
                <a:ext cx="595200" cy="855000"/>
              </a:xfrm>
              <a:prstGeom prst="roundRect">
                <a:avLst>
                  <a:gd fmla="val 20682" name="adj"/>
                </a:avLst>
              </a:prstGeom>
              <a:noFill/>
              <a:ln>
                <a:noFill/>
              </a:ln>
            </p:spPr>
          </p:pic>
        </p:grpSp>
      </p:grpSp>
      <p:pic>
        <p:nvPicPr>
          <p:cNvPr id="319" name="Google Shape;319;p3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741337" y="2003850"/>
            <a:ext cx="1092600" cy="567900"/>
          </a:xfrm>
          <a:prstGeom prst="roundRect">
            <a:avLst>
              <a:gd fmla="val 27023" name="adj"/>
            </a:avLst>
          </a:prstGeom>
          <a:noFill/>
          <a:ln>
            <a:noFill/>
          </a:ln>
        </p:spPr>
      </p:pic>
      <p:pic>
        <p:nvPicPr>
          <p:cNvPr id="320" name="Google Shape;320;p34"/>
          <p:cNvPicPr preferRelativeResize="0"/>
          <p:nvPr/>
        </p:nvPicPr>
        <p:blipFill rotWithShape="1">
          <a:blip r:embed="rId18">
            <a:alphaModFix/>
          </a:blip>
          <a:srcRect b="0" l="0" r="22881" t="0"/>
          <a:stretch/>
        </p:blipFill>
        <p:spPr>
          <a:xfrm>
            <a:off x="1690775" y="3172975"/>
            <a:ext cx="1193700" cy="654000"/>
          </a:xfrm>
          <a:prstGeom prst="roundRect">
            <a:avLst>
              <a:gd fmla="val 2046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5"/>
          <p:cNvSpPr txBox="1"/>
          <p:nvPr>
            <p:ph idx="1" type="subTitle"/>
          </p:nvPr>
        </p:nvSpPr>
        <p:spPr>
          <a:xfrm>
            <a:off x="-320950" y="-53600"/>
            <a:ext cx="1783500" cy="5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50" u="sng"/>
              <a:t>Budget</a:t>
            </a:r>
            <a:endParaRPr sz="2050" u="sng"/>
          </a:p>
        </p:txBody>
      </p:sp>
      <p:graphicFrame>
        <p:nvGraphicFramePr>
          <p:cNvPr id="326" name="Google Shape;326;p35"/>
          <p:cNvGraphicFramePr/>
          <p:nvPr/>
        </p:nvGraphicFramePr>
        <p:xfrm>
          <a:off x="126200" y="44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{A27E6ECB-9D40-49CA-BDDA-1B6C73E33206}</a:tableStyleId>
              </a:tblPr>
              <a:tblGrid>
                <a:gridCol w="475675"/>
                <a:gridCol w="1876525"/>
                <a:gridCol w="739750"/>
                <a:gridCol w="1408200"/>
              </a:tblGrid>
              <a:tr h="39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S.No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Component</a:t>
                      </a:r>
                      <a:endParaRPr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Quantity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Price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1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Raspberry Pi Model 5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1</a:t>
                      </a:r>
                      <a:endParaRPr sz="12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10,000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8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2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ELM327 OBDII USB Interface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1</a:t>
                      </a:r>
                      <a:endParaRPr sz="12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1,500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3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16x2 LCD Display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1</a:t>
                      </a:r>
                      <a:endParaRPr sz="12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SD card module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2,000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8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Real time clock module DS3231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6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Voltage Regulator (12V to 5V)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160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Push Button Switches 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LED Status Indicators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30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8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Breadboard &amp; Connecting Wires 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150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27" name="Google Shape;327;p35"/>
          <p:cNvGraphicFramePr/>
          <p:nvPr/>
        </p:nvGraphicFramePr>
        <p:xfrm>
          <a:off x="4743125" y="44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{A27E6ECB-9D40-49CA-BDDA-1B6C73E33206}</a:tableStyleId>
              </a:tblPr>
              <a:tblGrid>
                <a:gridCol w="400975"/>
                <a:gridCol w="1700775"/>
                <a:gridCol w="1050875"/>
                <a:gridCol w="1050875"/>
              </a:tblGrid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10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Protective Enclosure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1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900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11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12V Power Adapter 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1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200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12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Raspberry Pi Adapter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1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1,500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</a:tr>
              <a:tr h="29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hlink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Total </a:t>
                      </a:r>
                      <a:endParaRPr sz="10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19,080</a:t>
                      </a:r>
                      <a:endParaRPr b="1" sz="12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28" name="Google Shape;328;p35"/>
          <p:cNvGraphicFramePr/>
          <p:nvPr/>
        </p:nvGraphicFramePr>
        <p:xfrm>
          <a:off x="4743125" y="280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{A27E6ECB-9D40-49CA-BDDA-1B6C73E33206}</a:tableStyleId>
              </a:tblPr>
              <a:tblGrid>
                <a:gridCol w="2101750"/>
                <a:gridCol w="2101750"/>
              </a:tblGrid>
              <a:tr h="44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Contingency </a:t>
                      </a:r>
                      <a:endParaRPr sz="12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2,000</a:t>
                      </a:r>
                      <a:endParaRPr sz="12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</a:tr>
              <a:tr h="40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Consumables</a:t>
                      </a:r>
                      <a:endParaRPr sz="12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1,000</a:t>
                      </a:r>
                      <a:endParaRPr sz="12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</a:tr>
              <a:tr h="40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Travel </a:t>
                      </a:r>
                      <a:endParaRPr sz="12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1,000</a:t>
                      </a:r>
                      <a:endParaRPr sz="12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</a:tr>
              <a:tr h="40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Others</a:t>
                      </a:r>
                      <a:endParaRPr sz="12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920</a:t>
                      </a:r>
                      <a:endParaRPr sz="12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T="91425" marB="91425" marR="91425" marL="91425"/>
                </a:tc>
              </a:tr>
              <a:tr h="40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Total </a:t>
                      </a:r>
                      <a:endParaRPr b="1" sz="12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25,000</a:t>
                      </a:r>
                      <a:endParaRPr b="1" sz="12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3" name="Google Shape;333;p36"/>
          <p:cNvCxnSpPr/>
          <p:nvPr/>
        </p:nvCxnSpPr>
        <p:spPr>
          <a:xfrm>
            <a:off x="4608325" y="468900"/>
            <a:ext cx="0" cy="447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36"/>
          <p:cNvCxnSpPr/>
          <p:nvPr/>
        </p:nvCxnSpPr>
        <p:spPr>
          <a:xfrm flipH="1" rot="10800000">
            <a:off x="124800" y="2701800"/>
            <a:ext cx="88944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" name="Google Shape;335;p36"/>
          <p:cNvSpPr txBox="1"/>
          <p:nvPr/>
        </p:nvSpPr>
        <p:spPr>
          <a:xfrm>
            <a:off x="158875" y="886475"/>
            <a:ext cx="41502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Goal 9 - Industry, Innovation &amp; Infrastructure</a:t>
            </a:r>
            <a:endParaRPr b="1" sz="1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Innovation</a:t>
            </a:r>
            <a:r>
              <a:rPr lang="en" sz="12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: Utilizes GRU algorithms with ±5% accuracy for real-time mass estimation, advancing India's automotive research capabilities and supporting the transition to intelligent transport systems.</a:t>
            </a:r>
            <a:endParaRPr b="1" sz="1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36"/>
          <p:cNvSpPr txBox="1"/>
          <p:nvPr/>
        </p:nvSpPr>
        <p:spPr>
          <a:xfrm>
            <a:off x="4768375" y="886475"/>
            <a:ext cx="4236900" cy="17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TRL 4 - Small Scale Prototype - Technology validated in lab</a:t>
            </a:r>
            <a:endParaRPr b="1" sz="11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Simulation of diverse vehicle load conditions through prerecorded CAN-bus signal playback allows for repeatable and controlled evaluation of the prototype’s mass estimation capabilities without requiring full vehicle deployment.</a:t>
            </a:r>
            <a:endParaRPr b="1" sz="11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37" name="Google Shape;337;p36"/>
          <p:cNvSpPr txBox="1"/>
          <p:nvPr/>
        </p:nvSpPr>
        <p:spPr>
          <a:xfrm>
            <a:off x="5725" y="3263975"/>
            <a:ext cx="4456500" cy="18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Serif Medium"/>
              <a:buChar char="●"/>
            </a:pPr>
            <a:r>
              <a:rPr lang="en" sz="1200">
                <a:solidFill>
                  <a:schemeClr val="hlink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On-Board Weighing KIT with real-time mass estimation</a:t>
            </a:r>
            <a:endParaRPr sz="1200">
              <a:solidFill>
                <a:schemeClr val="hlink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hlink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Serif Medium"/>
              <a:buChar char="●"/>
            </a:pPr>
            <a:r>
              <a:rPr lang="en" sz="1200">
                <a:solidFill>
                  <a:schemeClr val="hlink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Certified accuracy performance (± 5% for &gt; 90% load, ± 10% across all conditions)</a:t>
            </a:r>
            <a:endParaRPr sz="1200">
              <a:solidFill>
                <a:schemeClr val="hlink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hlink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Serif Medium"/>
              <a:buChar char="●"/>
            </a:pPr>
            <a:r>
              <a:rPr lang="en" sz="1200">
                <a:solidFill>
                  <a:schemeClr val="hlink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Installation &amp; operation manual</a:t>
            </a:r>
            <a:endParaRPr sz="1200">
              <a:solidFill>
                <a:schemeClr val="hlink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338" name="Google Shape;338;p36"/>
          <p:cNvSpPr txBox="1"/>
          <p:nvPr/>
        </p:nvSpPr>
        <p:spPr>
          <a:xfrm>
            <a:off x="4567775" y="3263975"/>
            <a:ext cx="4375500" cy="18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Merriweather Medium"/>
              <a:buChar char="●"/>
            </a:pPr>
            <a:r>
              <a:rPr lang="en" sz="1200">
                <a:solidFill>
                  <a:schemeClr val="hlink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By stopping overloaded trucks at the source, this KIT helps prevent serious accidents, saving lives</a:t>
            </a:r>
            <a:endParaRPr sz="1200">
              <a:solidFill>
                <a:schemeClr val="hlink"/>
              </a:solidFill>
              <a:latin typeface="Merriweather Medium"/>
              <a:ea typeface="Merriweather Medium"/>
              <a:cs typeface="Merriweather Medium"/>
              <a:sym typeface="Merriweather Medium"/>
            </a:endParaRPr>
          </a:p>
          <a:p>
            <a:pPr indent="0" lvl="0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hlink"/>
              </a:solidFill>
              <a:latin typeface="Merriweather Medium"/>
              <a:ea typeface="Merriweather Medium"/>
              <a:cs typeface="Merriweather Medium"/>
              <a:sym typeface="Merriweather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Merriweather Medium"/>
              <a:buChar char="●"/>
            </a:pPr>
            <a:r>
              <a:rPr lang="en" sz="1200">
                <a:solidFill>
                  <a:schemeClr val="hlink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lower fuel consumption and reduced carbon emissions</a:t>
            </a:r>
            <a:endParaRPr sz="8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339" name="Google Shape;339;p36"/>
          <p:cNvSpPr txBox="1"/>
          <p:nvPr>
            <p:ph idx="1" type="subTitle"/>
          </p:nvPr>
        </p:nvSpPr>
        <p:spPr>
          <a:xfrm>
            <a:off x="155575" y="332700"/>
            <a:ext cx="4612800" cy="5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50"/>
              <a:t>Sustainable Development Goals (SDG</a:t>
            </a:r>
            <a:r>
              <a:rPr lang="en" sz="2050"/>
              <a:t>)</a:t>
            </a:r>
            <a:endParaRPr sz="2050"/>
          </a:p>
        </p:txBody>
      </p:sp>
      <p:sp>
        <p:nvSpPr>
          <p:cNvPr id="340" name="Google Shape;340;p36"/>
          <p:cNvSpPr txBox="1"/>
          <p:nvPr>
            <p:ph idx="1" type="subTitle"/>
          </p:nvPr>
        </p:nvSpPr>
        <p:spPr>
          <a:xfrm>
            <a:off x="4629925" y="370750"/>
            <a:ext cx="4915200" cy="4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50"/>
              <a:t>Technology Readiness Level (TRL)</a:t>
            </a:r>
            <a:endParaRPr sz="2050"/>
          </a:p>
        </p:txBody>
      </p:sp>
      <p:sp>
        <p:nvSpPr>
          <p:cNvPr id="341" name="Google Shape;341;p36"/>
          <p:cNvSpPr txBox="1"/>
          <p:nvPr>
            <p:ph idx="1" type="subTitle"/>
          </p:nvPr>
        </p:nvSpPr>
        <p:spPr>
          <a:xfrm>
            <a:off x="155575" y="2841025"/>
            <a:ext cx="3378000" cy="46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50"/>
              <a:t>Expected Deliverable </a:t>
            </a:r>
            <a:endParaRPr sz="2050"/>
          </a:p>
        </p:txBody>
      </p:sp>
      <p:sp>
        <p:nvSpPr>
          <p:cNvPr id="342" name="Google Shape;342;p36"/>
          <p:cNvSpPr txBox="1"/>
          <p:nvPr>
            <p:ph idx="1" type="subTitle"/>
          </p:nvPr>
        </p:nvSpPr>
        <p:spPr>
          <a:xfrm>
            <a:off x="4688525" y="2760575"/>
            <a:ext cx="4544100" cy="4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50"/>
              <a:t>Societal relevance</a:t>
            </a:r>
            <a:endParaRPr sz="1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7"/>
          <p:cNvSpPr txBox="1"/>
          <p:nvPr>
            <p:ph idx="1" type="subTitle"/>
          </p:nvPr>
        </p:nvSpPr>
        <p:spPr>
          <a:xfrm>
            <a:off x="2947850" y="2061125"/>
            <a:ext cx="3359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 </a:t>
            </a:r>
            <a:r>
              <a:rPr lang="en" sz="2050"/>
              <a:t>    </a:t>
            </a:r>
            <a:r>
              <a:rPr lang="en" sz="2250"/>
              <a:t>Thank You</a:t>
            </a:r>
            <a:endParaRPr sz="22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8"/>
          <p:cNvSpPr txBox="1"/>
          <p:nvPr>
            <p:ph idx="1" type="subTitle"/>
          </p:nvPr>
        </p:nvSpPr>
        <p:spPr>
          <a:xfrm>
            <a:off x="48825" y="58800"/>
            <a:ext cx="4612800" cy="5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50"/>
              <a:t>Sustainable Development Goals (SDG</a:t>
            </a:r>
            <a:r>
              <a:rPr lang="en" sz="2050"/>
              <a:t>)</a:t>
            </a:r>
            <a:endParaRPr sz="2050"/>
          </a:p>
        </p:txBody>
      </p:sp>
      <p:sp>
        <p:nvSpPr>
          <p:cNvPr id="353" name="Google Shape;353;p38"/>
          <p:cNvSpPr txBox="1"/>
          <p:nvPr>
            <p:ph idx="1" type="subTitle"/>
          </p:nvPr>
        </p:nvSpPr>
        <p:spPr>
          <a:xfrm>
            <a:off x="4572000" y="81900"/>
            <a:ext cx="4544100" cy="4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50"/>
              <a:t>Technology Readiness Level (TRL)</a:t>
            </a:r>
            <a:endParaRPr sz="2050"/>
          </a:p>
        </p:txBody>
      </p:sp>
      <p:sp>
        <p:nvSpPr>
          <p:cNvPr id="354" name="Google Shape;354;p38"/>
          <p:cNvSpPr txBox="1"/>
          <p:nvPr/>
        </p:nvSpPr>
        <p:spPr>
          <a:xfrm>
            <a:off x="121725" y="1125450"/>
            <a:ext cx="4354200" cy="3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DM Sans Medium"/>
              <a:buChar char="●"/>
            </a:pPr>
            <a:r>
              <a:rPr lang="en" sz="12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Addresses India's critical overloading problem where one in three trucks exceeds legal limits and overloaded vehicles cause 50% of traffic accidents, supporting sustainable transport infrastructure.</a:t>
            </a:r>
            <a:endParaRPr sz="12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DM Sans Medium"/>
              <a:buChar char="●"/>
            </a:pPr>
            <a:r>
              <a:rPr b="1" lang="en" sz="12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Innovation</a:t>
            </a:r>
            <a:r>
              <a:rPr lang="en" sz="12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: Utilizes GRU algorithms with ±5% accuracy for real-time mass estimation, advancing India's automotive research capabilities and supporting the transition to intelligent transport systems.</a:t>
            </a:r>
            <a:endParaRPr sz="12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355" name="Google Shape;355;p38"/>
          <p:cNvSpPr txBox="1"/>
          <p:nvPr/>
        </p:nvSpPr>
        <p:spPr>
          <a:xfrm>
            <a:off x="4572000" y="1339000"/>
            <a:ext cx="4354200" cy="3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DM Sans Medium"/>
              <a:buChar char="●"/>
            </a:pPr>
            <a:r>
              <a:rPr lang="en" sz="12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Rigorous laboratory tests will be conducted to confirm that the technology meets defined performance benchmarks, specifically, maintaining mass estimation errors within 10% and achieving data processing rates of at least 10 Hz.</a:t>
            </a:r>
            <a:endParaRPr sz="12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DM Sans Medium"/>
              <a:buChar char="●"/>
            </a:pPr>
            <a:r>
              <a:rPr lang="en" sz="12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</a:t>
            </a:r>
            <a:r>
              <a:rPr lang="en" sz="12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imulation of diverse vehicle load conditions through prerecorded CAN-bus signal playback allows for repeatable and controlled evaluation of the prototype’s mass estimation capabilities without requiring full vehicle deployment.</a:t>
            </a:r>
            <a:endParaRPr sz="12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DM Sans Medium"/>
              <a:buChar char="●"/>
            </a:pPr>
            <a:r>
              <a:rPr lang="en" sz="12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Emphasis will be placed on identifying potential technical challenges and limitations through rigorous lab analyses, enabling proactive mitigation strategies and iterative design improvements early in the development process</a:t>
            </a:r>
            <a:endParaRPr sz="12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356" name="Google Shape;356;p38"/>
          <p:cNvSpPr txBox="1"/>
          <p:nvPr/>
        </p:nvSpPr>
        <p:spPr>
          <a:xfrm>
            <a:off x="205275" y="605550"/>
            <a:ext cx="418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Goal 9 - Industry, Innovation &amp; Infrastructure</a:t>
            </a:r>
            <a:endParaRPr b="1"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57" name="Google Shape;357;p38"/>
          <p:cNvSpPr txBox="1"/>
          <p:nvPr/>
        </p:nvSpPr>
        <p:spPr>
          <a:xfrm>
            <a:off x="4643700" y="605550"/>
            <a:ext cx="44007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TRL 4 - Small Scale Prototype - Technology validated in lab</a:t>
            </a:r>
            <a:endParaRPr b="1" sz="11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9"/>
          <p:cNvSpPr txBox="1"/>
          <p:nvPr>
            <p:ph idx="1" type="subTitle"/>
          </p:nvPr>
        </p:nvSpPr>
        <p:spPr>
          <a:xfrm>
            <a:off x="368400" y="136050"/>
            <a:ext cx="3378000" cy="46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50"/>
              <a:t>Expected Deliverable </a:t>
            </a:r>
            <a:endParaRPr sz="2050"/>
          </a:p>
        </p:txBody>
      </p:sp>
      <p:sp>
        <p:nvSpPr>
          <p:cNvPr id="363" name="Google Shape;363;p39"/>
          <p:cNvSpPr txBox="1"/>
          <p:nvPr>
            <p:ph idx="1" type="subTitle"/>
          </p:nvPr>
        </p:nvSpPr>
        <p:spPr>
          <a:xfrm>
            <a:off x="4572000" y="81900"/>
            <a:ext cx="4544100" cy="4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50"/>
              <a:t>Societal relevance</a:t>
            </a:r>
            <a:endParaRPr sz="1850"/>
          </a:p>
        </p:txBody>
      </p:sp>
      <p:sp>
        <p:nvSpPr>
          <p:cNvPr id="364" name="Google Shape;364;p39"/>
          <p:cNvSpPr txBox="1"/>
          <p:nvPr/>
        </p:nvSpPr>
        <p:spPr>
          <a:xfrm>
            <a:off x="197375" y="809800"/>
            <a:ext cx="4354200" cy="3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Serif Medium"/>
              <a:buChar char="●"/>
            </a:pPr>
            <a:r>
              <a:rPr lang="en" sz="1200">
                <a:solidFill>
                  <a:schemeClr val="hlink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On-Board Weighing KIT with real-time mass estimation</a:t>
            </a:r>
            <a:endParaRPr sz="1200">
              <a:solidFill>
                <a:schemeClr val="hlink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hlink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Serif Medium"/>
              <a:buChar char="●"/>
            </a:pPr>
            <a:r>
              <a:rPr lang="en" sz="1200">
                <a:solidFill>
                  <a:schemeClr val="hlink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Certified accuracy performance (± 5% for &gt; 90% load, ± 10% across all conditions)</a:t>
            </a:r>
            <a:endParaRPr sz="1200">
              <a:solidFill>
                <a:schemeClr val="hlink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hlink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Roboto Serif Medium"/>
              <a:buChar char="●"/>
            </a:pPr>
            <a:r>
              <a:rPr lang="en" sz="1200">
                <a:solidFill>
                  <a:schemeClr val="hlink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Installation &amp; operation manual</a:t>
            </a:r>
            <a:endParaRPr sz="1200">
              <a:solidFill>
                <a:schemeClr val="hlink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hlink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365" name="Google Shape;365;p39"/>
          <p:cNvSpPr txBox="1"/>
          <p:nvPr/>
        </p:nvSpPr>
        <p:spPr>
          <a:xfrm>
            <a:off x="4572000" y="826150"/>
            <a:ext cx="4354200" cy="3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Merriweather Medium"/>
              <a:buChar char="●"/>
            </a:pPr>
            <a:r>
              <a:rPr lang="en" sz="1200">
                <a:solidFill>
                  <a:schemeClr val="hlink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By stopping overloaded trucks at the source, this KIT helps prevent serious accidents, saving lives</a:t>
            </a:r>
            <a:endParaRPr sz="1200">
              <a:solidFill>
                <a:schemeClr val="hlink"/>
              </a:solidFill>
              <a:latin typeface="Merriweather Medium"/>
              <a:ea typeface="Merriweather Medium"/>
              <a:cs typeface="Merriweather Medium"/>
              <a:sym typeface="Merriweather Medium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hlink"/>
              </a:solidFill>
              <a:latin typeface="Merriweather Medium"/>
              <a:ea typeface="Merriweather Medium"/>
              <a:cs typeface="Merriweather Medium"/>
              <a:sym typeface="Merriweather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Merriweather Medium"/>
              <a:buChar char="●"/>
            </a:pPr>
            <a:r>
              <a:rPr lang="en" sz="1200">
                <a:solidFill>
                  <a:schemeClr val="hlink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lower fuel consumption and reduced carbon emissions</a:t>
            </a:r>
            <a:endParaRPr sz="1200">
              <a:solidFill>
                <a:schemeClr val="hlink"/>
              </a:solidFill>
              <a:latin typeface="Merriweather Medium"/>
              <a:ea typeface="Merriweather Medium"/>
              <a:cs typeface="Merriweather Medium"/>
              <a:sym typeface="Merriweather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0"/>
          <p:cNvSpPr txBox="1"/>
          <p:nvPr>
            <p:ph idx="1" type="subTitle"/>
          </p:nvPr>
        </p:nvSpPr>
        <p:spPr>
          <a:xfrm>
            <a:off x="2892150" y="0"/>
            <a:ext cx="3359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 </a:t>
            </a:r>
            <a:r>
              <a:rPr lang="en" sz="2050"/>
              <a:t>       Introduction</a:t>
            </a:r>
            <a:endParaRPr sz="2050"/>
          </a:p>
        </p:txBody>
      </p:sp>
      <p:cxnSp>
        <p:nvCxnSpPr>
          <p:cNvPr id="371" name="Google Shape;371;p40"/>
          <p:cNvCxnSpPr/>
          <p:nvPr/>
        </p:nvCxnSpPr>
        <p:spPr>
          <a:xfrm>
            <a:off x="4903150" y="540550"/>
            <a:ext cx="0" cy="447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40"/>
          <p:cNvCxnSpPr/>
          <p:nvPr/>
        </p:nvCxnSpPr>
        <p:spPr>
          <a:xfrm flipH="1" rot="10800000">
            <a:off x="158875" y="2957050"/>
            <a:ext cx="88944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" name="Google Shape;373;p40"/>
          <p:cNvSpPr txBox="1"/>
          <p:nvPr/>
        </p:nvSpPr>
        <p:spPr>
          <a:xfrm>
            <a:off x="158875" y="484850"/>
            <a:ext cx="4660800" cy="24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Conventional Methods used for Vehicle Mass Estimation </a:t>
            </a:r>
            <a:endParaRPr b="1" sz="1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DM Sans Medium"/>
              <a:buAutoNum type="arabicParenR"/>
            </a:pPr>
            <a:r>
              <a:rPr lang="en" sz="1100" u="sng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Weighing Bridge</a:t>
            </a:r>
            <a:endParaRPr sz="1100" u="sng">
              <a:solidFill>
                <a:schemeClr val="dk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DM Sans"/>
              <a:buChar char="●"/>
            </a:pPr>
            <a:r>
              <a:rPr lang="en" sz="11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Fixed large-scale platforms that directly measure total vehicle weight.</a:t>
            </a:r>
            <a:endParaRPr sz="11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DM Sans"/>
              <a:buChar char="●"/>
            </a:pPr>
            <a:r>
              <a:rPr lang="en" sz="11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Require specialized infrastructure and designated locations</a:t>
            </a:r>
            <a:endParaRPr sz="11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DM Sans Medium"/>
              <a:buChar char="●"/>
            </a:pPr>
            <a:r>
              <a:rPr lang="en" sz="11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Not suitable for real-time or continuous vehicle mass monitoring during operation.</a:t>
            </a:r>
            <a:endParaRPr sz="11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DM Sans Medium"/>
              <a:buAutoNum type="arabicParenR"/>
            </a:pPr>
            <a:r>
              <a:rPr lang="en" sz="1100" u="sng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Load Cells/</a:t>
            </a:r>
            <a:r>
              <a:rPr lang="en" sz="1100" u="sng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Strain</a:t>
            </a:r>
            <a:r>
              <a:rPr lang="en" sz="1100" u="sng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Gauges</a:t>
            </a:r>
            <a:endParaRPr sz="1100" u="sng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DM Sans"/>
              <a:buChar char="●"/>
            </a:pPr>
            <a:r>
              <a:rPr lang="en" sz="11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Sensors installed on suspension or axles measuring load force for onboard weight estimation.</a:t>
            </a:r>
            <a:endParaRPr sz="11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DM Sans Medium"/>
              <a:buChar char="●"/>
            </a:pPr>
            <a:r>
              <a:rPr lang="en" sz="11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Require vehicle hardware modifications and calibration.</a:t>
            </a:r>
            <a:endParaRPr sz="11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Data - Driven</a:t>
            </a:r>
            <a:r>
              <a:rPr b="1" lang="en"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Methods currently used for Vehicle Mass Estimation </a:t>
            </a:r>
            <a:endParaRPr b="1"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900" u="sng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40"/>
          <p:cNvSpPr txBox="1"/>
          <p:nvPr/>
        </p:nvSpPr>
        <p:spPr>
          <a:xfrm>
            <a:off x="4986625" y="484850"/>
            <a:ext cx="4066800" cy="2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Drawbacks of Existing Vehicle Mass Estimation Methods</a:t>
            </a:r>
            <a:endParaRPr b="1" sz="10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000"/>
              <a:buFont typeface="DM Sans Medium"/>
              <a:buChar char="●"/>
            </a:pPr>
            <a:r>
              <a:rPr lang="en" sz="10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Weighing bridges require costly, </a:t>
            </a:r>
            <a:r>
              <a:rPr lang="en" sz="1000" u="sng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fixed infrastructure</a:t>
            </a:r>
            <a:r>
              <a:rPr lang="en" sz="10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and dedicated sites for vehicle weighing, making them unsuitable for continuous or real-time mass monitoring during transit.</a:t>
            </a:r>
            <a:endParaRPr sz="10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000"/>
              <a:buFont typeface="DM Sans Medium"/>
              <a:buChar char="●"/>
            </a:pPr>
            <a:r>
              <a:rPr lang="en" sz="10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These physical methods lack scalability and flexibility, especially </a:t>
            </a:r>
            <a:r>
              <a:rPr lang="en" sz="1000" u="sng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for widespread fleet applications needing dynamic, &amp;  continuous load monitoring.</a:t>
            </a:r>
            <a:endParaRPr sz="1000" u="sng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000"/>
              <a:buFont typeface="DM Sans Medium"/>
              <a:buChar char="●"/>
            </a:pPr>
            <a:r>
              <a:rPr lang="en" sz="10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The complex, </a:t>
            </a:r>
            <a:r>
              <a:rPr lang="en" sz="1000" u="sng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nonlinear behavior of vehicles under varying loads and driving conditions </a:t>
            </a:r>
            <a:r>
              <a:rPr lang="en" sz="10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cannot be fully captured by static physical sensors alone, limiting the accuracy of traditional methods.</a:t>
            </a:r>
            <a:endParaRPr sz="10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375" name="Google Shape;375;p40"/>
          <p:cNvSpPr txBox="1"/>
          <p:nvPr/>
        </p:nvSpPr>
        <p:spPr>
          <a:xfrm>
            <a:off x="158875" y="3223725"/>
            <a:ext cx="4456500" cy="18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 Medium"/>
              <a:buAutoNum type="arabicParenR"/>
            </a:pPr>
            <a:r>
              <a:rPr lang="en" sz="10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Extended Kalman Filter (EKF) </a:t>
            </a:r>
            <a:endParaRPr sz="10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92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000"/>
              <a:buFont typeface="DM Sans Medium"/>
              <a:buChar char="●"/>
            </a:pPr>
            <a:r>
              <a:rPr lang="en" sz="10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Combines noisy sensor data to give a best estimate of vehicle mass over time.</a:t>
            </a:r>
            <a:endParaRPr sz="10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92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000"/>
              <a:buFont typeface="DM Sans Medium"/>
              <a:buChar char="●"/>
            </a:pPr>
            <a:r>
              <a:rPr lang="en" sz="10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Requires accurate physical models and careful tuning; struggles with highly nonlinear or complex vehicle dynamics; sensitive to sensor noise and model errors.</a:t>
            </a:r>
            <a:endParaRPr sz="10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000"/>
              <a:buFont typeface="DM Sans Medium"/>
              <a:buAutoNum type="arabicParenR"/>
            </a:pPr>
            <a:r>
              <a:rPr lang="en" sz="12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Recursive Least Squares (RLS)</a:t>
            </a:r>
            <a:endParaRPr sz="12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DM Sans Medium"/>
              <a:buAutoNum type="alphaLcParenR"/>
            </a:pPr>
            <a:r>
              <a:rPr lang="en" sz="9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</a:t>
            </a:r>
            <a:r>
              <a:rPr lang="en" sz="9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ensitive to quality of input data and initial starting assumptions</a:t>
            </a:r>
            <a:endParaRPr sz="9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900"/>
              <a:buFont typeface="DM Sans Medium"/>
              <a:buAutoNum type="alphaLcParenR"/>
            </a:pPr>
            <a:r>
              <a:rPr lang="en" sz="8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Needs good initial conditions and persistent excitation</a:t>
            </a:r>
            <a:endParaRPr sz="9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2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376" name="Google Shape;376;p40"/>
          <p:cNvSpPr txBox="1"/>
          <p:nvPr/>
        </p:nvSpPr>
        <p:spPr>
          <a:xfrm>
            <a:off x="4986400" y="3020550"/>
            <a:ext cx="40668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Our Proposed Solution</a:t>
            </a:r>
            <a:endParaRPr/>
          </a:p>
        </p:txBody>
      </p:sp>
      <p:sp>
        <p:nvSpPr>
          <p:cNvPr id="377" name="Google Shape;377;p40"/>
          <p:cNvSpPr txBox="1"/>
          <p:nvPr/>
        </p:nvSpPr>
        <p:spPr>
          <a:xfrm>
            <a:off x="5107400" y="3304175"/>
            <a:ext cx="4036500" cy="17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 Medium"/>
              <a:buChar char="●"/>
            </a:pPr>
            <a:r>
              <a:rPr b="1" lang="en" sz="10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GRU </a:t>
            </a:r>
            <a:r>
              <a:rPr lang="en" sz="10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models are designed to learn and remember temporal sequences and nonlinear relationships in the complex vehicle dynamics, handling noise and variability better than traditional physical-model-based filters.</a:t>
            </a:r>
            <a:endParaRPr sz="10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800"/>
              <a:buFont typeface="DM Sans Medium"/>
              <a:buChar char="●"/>
            </a:pPr>
            <a:r>
              <a:rPr lang="en" sz="1000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Uses existing vehicle sensor data accessed through standard OBD-II ports, requiring no additional sensors or hardware modifications, which reduces cost and complexity.</a:t>
            </a:r>
            <a:endParaRPr sz="800">
              <a:solidFill>
                <a:schemeClr val="hlink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idx="1" type="subTitle"/>
          </p:nvPr>
        </p:nvSpPr>
        <p:spPr>
          <a:xfrm>
            <a:off x="112525" y="0"/>
            <a:ext cx="3359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Literature Review</a:t>
            </a:r>
            <a:endParaRPr/>
          </a:p>
        </p:txBody>
      </p:sp>
      <p:graphicFrame>
        <p:nvGraphicFramePr>
          <p:cNvPr id="383" name="Google Shape;383;p41"/>
          <p:cNvGraphicFramePr/>
          <p:nvPr/>
        </p:nvGraphicFramePr>
        <p:xfrm>
          <a:off x="197375" y="6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{A27E6ECB-9D40-49CA-BDDA-1B6C73E33206}</a:tableStyleId>
              </a:tblPr>
              <a:tblGrid>
                <a:gridCol w="1489575"/>
                <a:gridCol w="1390425"/>
                <a:gridCol w="820300"/>
                <a:gridCol w="1452400"/>
                <a:gridCol w="3596550"/>
              </a:tblGrid>
              <a:tr h="36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Title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Author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year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Journal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Inference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130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Innovative Approaches for Dynamic System Monitoring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Johnson &amp; Lee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2024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Journal of Engineering Research and Reports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Describes adaptive filtering and outlier detection for robust real-time mass estimation under diverse conditions. Integrates wavelet transform and statistical inference methods for stability and noise reduction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127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ECU Data Processing Techniques for Automotive Applications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Kumar, S., Patel, R., &amp; Sharma, 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2023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International Journal of Automotive Engineering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Highlights signal preprocessing/filtering via OBD-II protocols to improve mass estimation from noisy ECU data. Emphasizes the importance of data integrity for parameter estimation.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72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LSTM-Based Virtual Load Sensor for Heavy-Duty Vehicles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Zhang, H., Wang, L., &amp; Chen, 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2024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IEEE Sensors Journal/</a:t>
                      </a:r>
                      <a:r>
                        <a:rPr lang="en" sz="1200"/>
                        <a:t>Sensors Journal</a:t>
                      </a:r>
                      <a:r>
                        <a:rPr lang="en" sz="1200"/>
                        <a:t> (alternate listing)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Two-layer LSTM network estimates mass for heavy-duty vehicles, modeling complex loading with high accuracy. Training on large data sets is required for real-time implementation.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Google Shape;388;p42"/>
          <p:cNvGrpSpPr/>
          <p:nvPr/>
        </p:nvGrpSpPr>
        <p:grpSpPr>
          <a:xfrm>
            <a:off x="57631" y="1729560"/>
            <a:ext cx="9088971" cy="2717326"/>
            <a:chOff x="329897" y="1810925"/>
            <a:chExt cx="8816540" cy="2635877"/>
          </a:xfrm>
        </p:grpSpPr>
        <p:grpSp>
          <p:nvGrpSpPr>
            <p:cNvPr id="389" name="Google Shape;389;p42"/>
            <p:cNvGrpSpPr/>
            <p:nvPr/>
          </p:nvGrpSpPr>
          <p:grpSpPr>
            <a:xfrm>
              <a:off x="329897" y="1810925"/>
              <a:ext cx="2150202" cy="1777075"/>
              <a:chOff x="2919497" y="1810925"/>
              <a:chExt cx="2150202" cy="1777075"/>
            </a:xfrm>
          </p:grpSpPr>
          <p:sp>
            <p:nvSpPr>
              <p:cNvPr id="390" name="Google Shape;390;p42"/>
              <p:cNvSpPr/>
              <p:nvPr/>
            </p:nvSpPr>
            <p:spPr>
              <a:xfrm>
                <a:off x="3485717" y="3079475"/>
                <a:ext cx="1294800" cy="133500"/>
              </a:xfrm>
              <a:prstGeom prst="rect">
                <a:avLst/>
              </a:prstGeom>
              <a:solidFill>
                <a:srgbClr val="0E9453"/>
              </a:solidFill>
              <a:ln>
                <a:noFill/>
              </a:ln>
            </p:spPr>
            <p:txBody>
              <a:bodyPr anchorCtr="0" anchor="ctr" bIns="94250" lIns="94250" spcFirstLastPara="1" rIns="94250" wrap="square" tIns="942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42"/>
              <p:cNvSpPr txBox="1"/>
              <p:nvPr/>
            </p:nvSpPr>
            <p:spPr>
              <a:xfrm>
                <a:off x="2919497" y="3216600"/>
                <a:ext cx="9273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4250" lIns="94250" spcFirstLastPara="1" rIns="94250" wrap="square" tIns="94250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49"/>
                  </a:spcAft>
                  <a:buNone/>
                </a:pPr>
                <a:r>
                  <a:rPr b="1" lang="en" sz="1237">
                    <a:latin typeface="Roboto"/>
                    <a:ea typeface="Roboto"/>
                    <a:cs typeface="Roboto"/>
                    <a:sym typeface="Roboto"/>
                  </a:rPr>
                  <a:t>Month 1</a:t>
                </a:r>
                <a:endParaRPr b="1" sz="1237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92" name="Google Shape;392;p42"/>
              <p:cNvSpPr txBox="1"/>
              <p:nvPr/>
            </p:nvSpPr>
            <p:spPr>
              <a:xfrm>
                <a:off x="3248399" y="1810925"/>
                <a:ext cx="1821300" cy="9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4250" lIns="94250" spcFirstLastPara="1" rIns="94250" wrap="square" tIns="942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24">
                    <a:latin typeface="Roboto"/>
                    <a:ea typeface="Roboto"/>
                    <a:cs typeface="Roboto"/>
                    <a:sym typeface="Roboto"/>
                  </a:rPr>
                  <a:t>Foundation &amp; </a:t>
                </a:r>
                <a:r>
                  <a:rPr b="1" lang="en" sz="824">
                    <a:latin typeface="Roboto"/>
                    <a:ea typeface="Roboto"/>
                    <a:cs typeface="Roboto"/>
                    <a:sym typeface="Roboto"/>
                  </a:rPr>
                  <a:t>Preparation</a:t>
                </a:r>
                <a:endParaRPr b="1" sz="824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824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1649"/>
                  </a:spcAft>
                  <a:buNone/>
                </a:pPr>
                <a:r>
                  <a:rPr lang="en" sz="824">
                    <a:latin typeface="Roboto"/>
                    <a:ea typeface="Roboto"/>
                    <a:cs typeface="Roboto"/>
                    <a:sym typeface="Roboto"/>
                  </a:rPr>
                  <a:t>To conduct literature review and have a clear understanding of the project scope, all required components in hand, and a solid plan for data collection.</a:t>
                </a:r>
                <a:endParaRPr b="1" sz="824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393" name="Google Shape;393;p42"/>
              <p:cNvGrpSpPr/>
              <p:nvPr/>
            </p:nvGrpSpPr>
            <p:grpSpPr>
              <a:xfrm>
                <a:off x="3435870" y="2800065"/>
                <a:ext cx="92400" cy="411825"/>
                <a:chOff x="845575" y="2563700"/>
                <a:chExt cx="92400" cy="411825"/>
              </a:xfrm>
            </p:grpSpPr>
            <p:sp>
              <p:nvSpPr>
                <p:cNvPr id="394" name="Google Shape;394;p42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4250" lIns="94250" spcFirstLastPara="1" rIns="94250" wrap="square" tIns="94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95" name="Google Shape;395;p42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396" name="Google Shape;396;p42"/>
            <p:cNvGrpSpPr/>
            <p:nvPr/>
          </p:nvGrpSpPr>
          <p:grpSpPr>
            <a:xfrm>
              <a:off x="1627201" y="2702600"/>
              <a:ext cx="2129200" cy="1744202"/>
              <a:chOff x="1627201" y="2702600"/>
              <a:chExt cx="2129200" cy="1744202"/>
            </a:xfrm>
          </p:grpSpPr>
          <p:sp>
            <p:nvSpPr>
              <p:cNvPr id="397" name="Google Shape;397;p42"/>
              <p:cNvSpPr/>
              <p:nvPr/>
            </p:nvSpPr>
            <p:spPr>
              <a:xfrm>
                <a:off x="2191011" y="3079475"/>
                <a:ext cx="1294800" cy="133500"/>
              </a:xfrm>
              <a:prstGeom prst="rect">
                <a:avLst/>
              </a:prstGeom>
              <a:solidFill>
                <a:srgbClr val="085630"/>
              </a:solidFill>
              <a:ln>
                <a:noFill/>
              </a:ln>
            </p:spPr>
            <p:txBody>
              <a:bodyPr anchorCtr="0" anchor="ctr" bIns="94250" lIns="94250" spcFirstLastPara="1" rIns="94250" wrap="square" tIns="942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42"/>
              <p:cNvSpPr txBox="1"/>
              <p:nvPr/>
            </p:nvSpPr>
            <p:spPr>
              <a:xfrm>
                <a:off x="1627201" y="2702600"/>
                <a:ext cx="946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4250" lIns="94250" spcFirstLastPara="1" rIns="94250" wrap="square" tIns="94250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49"/>
                  </a:spcAft>
                  <a:buNone/>
                </a:pPr>
                <a:r>
                  <a:rPr b="1" lang="en" sz="1237">
                    <a:latin typeface="Roboto"/>
                    <a:ea typeface="Roboto"/>
                    <a:cs typeface="Roboto"/>
                    <a:sym typeface="Roboto"/>
                  </a:rPr>
                  <a:t>Month 2</a:t>
                </a:r>
                <a:endParaRPr b="1" sz="1237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99" name="Google Shape;399;p42"/>
              <p:cNvSpPr txBox="1"/>
              <p:nvPr/>
            </p:nvSpPr>
            <p:spPr>
              <a:xfrm>
                <a:off x="2073401" y="3503002"/>
                <a:ext cx="16830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4250" lIns="94250" spcFirstLastPara="1" rIns="94250" wrap="square" tIns="942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24">
                    <a:latin typeface="Roboto"/>
                    <a:ea typeface="Roboto"/>
                    <a:cs typeface="Roboto"/>
                    <a:sym typeface="Roboto"/>
                  </a:rPr>
                  <a:t>Data Handling &amp; Initial Development</a:t>
                </a:r>
                <a:endParaRPr b="1" sz="824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824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1649"/>
                  </a:spcAft>
                  <a:buNone/>
                </a:pPr>
                <a:r>
                  <a:rPr lang="en" sz="824">
                    <a:latin typeface="Roboto"/>
                    <a:ea typeface="Roboto"/>
                    <a:cs typeface="Roboto"/>
                    <a:sym typeface="Roboto"/>
                  </a:rPr>
                  <a:t>To collect a substantial amount of raw data, clean it for use, and have a basic version of your model's code ready.</a:t>
                </a:r>
                <a:endParaRPr b="1" sz="824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400" name="Google Shape;400;p42"/>
              <p:cNvGrpSpPr/>
              <p:nvPr/>
            </p:nvGrpSpPr>
            <p:grpSpPr>
              <a:xfrm rot="10800000">
                <a:off x="2149293" y="3079467"/>
                <a:ext cx="92400" cy="411825"/>
                <a:chOff x="2072481" y="2563700"/>
                <a:chExt cx="92400" cy="411825"/>
              </a:xfrm>
            </p:grpSpPr>
            <p:cxnSp>
              <p:nvCxnSpPr>
                <p:cNvPr id="401" name="Google Shape;401;p42"/>
                <p:cNvCxnSpPr/>
                <p:nvPr/>
              </p:nvCxnSpPr>
              <p:spPr>
                <a:xfrm>
                  <a:off x="2118681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402" name="Google Shape;402;p42"/>
                <p:cNvSpPr/>
                <p:nvPr/>
              </p:nvSpPr>
              <p:spPr>
                <a:xfrm>
                  <a:off x="2072481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4250" lIns="94250" spcFirstLastPara="1" rIns="94250" wrap="square" tIns="94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03" name="Google Shape;403;p42"/>
            <p:cNvGrpSpPr/>
            <p:nvPr/>
          </p:nvGrpSpPr>
          <p:grpSpPr>
            <a:xfrm>
              <a:off x="3012823" y="1852850"/>
              <a:ext cx="2056937" cy="1735150"/>
              <a:chOff x="3012823" y="1852850"/>
              <a:chExt cx="2056937" cy="1735150"/>
            </a:xfrm>
          </p:grpSpPr>
          <p:sp>
            <p:nvSpPr>
              <p:cNvPr id="404" name="Google Shape;404;p42"/>
              <p:cNvSpPr/>
              <p:nvPr/>
            </p:nvSpPr>
            <p:spPr>
              <a:xfrm>
                <a:off x="3485717" y="3079475"/>
                <a:ext cx="1294800" cy="133500"/>
              </a:xfrm>
              <a:prstGeom prst="rect">
                <a:avLst/>
              </a:prstGeom>
              <a:solidFill>
                <a:srgbClr val="0E9453"/>
              </a:solidFill>
              <a:ln>
                <a:noFill/>
              </a:ln>
            </p:spPr>
            <p:txBody>
              <a:bodyPr anchorCtr="0" anchor="ctr" bIns="94250" lIns="94250" spcFirstLastPara="1" rIns="94250" wrap="square" tIns="942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42"/>
              <p:cNvSpPr txBox="1"/>
              <p:nvPr/>
            </p:nvSpPr>
            <p:spPr>
              <a:xfrm>
                <a:off x="3012823" y="3216600"/>
                <a:ext cx="8340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4250" lIns="94250" spcFirstLastPara="1" rIns="94250" wrap="square" tIns="94250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49"/>
                  </a:spcAft>
                  <a:buNone/>
                </a:pPr>
                <a:r>
                  <a:rPr b="1" lang="en" sz="1237">
                    <a:latin typeface="Roboto"/>
                    <a:ea typeface="Roboto"/>
                    <a:cs typeface="Roboto"/>
                    <a:sym typeface="Roboto"/>
                  </a:rPr>
                  <a:t>Month 3</a:t>
                </a:r>
                <a:endParaRPr b="1" sz="1237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06" name="Google Shape;406;p42"/>
              <p:cNvSpPr txBox="1"/>
              <p:nvPr/>
            </p:nvSpPr>
            <p:spPr>
              <a:xfrm>
                <a:off x="3386760" y="1852850"/>
                <a:ext cx="16830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4250" lIns="94250" spcFirstLastPara="1" rIns="94250" wrap="square" tIns="942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24">
                    <a:latin typeface="Roboto"/>
                    <a:ea typeface="Roboto"/>
                    <a:cs typeface="Roboto"/>
                    <a:sym typeface="Roboto"/>
                  </a:rPr>
                  <a:t>Model Training &amp; Initial Evaluation</a:t>
                </a:r>
                <a:endParaRPr b="1" sz="824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824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1649"/>
                  </a:spcAft>
                  <a:buNone/>
                </a:pPr>
                <a:r>
                  <a:rPr lang="en" sz="824">
                    <a:latin typeface="Roboto"/>
                    <a:ea typeface="Roboto"/>
                    <a:cs typeface="Roboto"/>
                    <a:sym typeface="Roboto"/>
                  </a:rPr>
                  <a:t>To have a fully trained first version of your model and to understand its initial performance and weaknesses.</a:t>
                </a:r>
                <a:endParaRPr b="1" sz="824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407" name="Google Shape;407;p42"/>
              <p:cNvGrpSpPr/>
              <p:nvPr/>
            </p:nvGrpSpPr>
            <p:grpSpPr>
              <a:xfrm>
                <a:off x="3435870" y="2800065"/>
                <a:ext cx="92400" cy="411825"/>
                <a:chOff x="845575" y="2563700"/>
                <a:chExt cx="92400" cy="411825"/>
              </a:xfrm>
            </p:grpSpPr>
            <p:sp>
              <p:nvSpPr>
                <p:cNvPr id="408" name="Google Shape;408;p42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4250" lIns="94250" spcFirstLastPara="1" rIns="94250" wrap="square" tIns="94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409" name="Google Shape;409;p42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410" name="Google Shape;410;p42"/>
            <p:cNvGrpSpPr/>
            <p:nvPr/>
          </p:nvGrpSpPr>
          <p:grpSpPr>
            <a:xfrm>
              <a:off x="4203522" y="2702600"/>
              <a:ext cx="2144675" cy="1744202"/>
              <a:chOff x="4203522" y="2702600"/>
              <a:chExt cx="2144675" cy="1744202"/>
            </a:xfrm>
          </p:grpSpPr>
          <p:sp>
            <p:nvSpPr>
              <p:cNvPr id="411" name="Google Shape;411;p42"/>
              <p:cNvSpPr/>
              <p:nvPr/>
            </p:nvSpPr>
            <p:spPr>
              <a:xfrm>
                <a:off x="4780421" y="3079475"/>
                <a:ext cx="1294800" cy="133500"/>
              </a:xfrm>
              <a:prstGeom prst="rect">
                <a:avLst/>
              </a:prstGeom>
              <a:solidFill>
                <a:srgbClr val="085630"/>
              </a:solidFill>
              <a:ln>
                <a:noFill/>
              </a:ln>
            </p:spPr>
            <p:txBody>
              <a:bodyPr anchorCtr="0" anchor="ctr" bIns="94250" lIns="94250" spcFirstLastPara="1" rIns="94250" wrap="square" tIns="942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12" name="Google Shape;412;p42"/>
              <p:cNvGrpSpPr/>
              <p:nvPr/>
            </p:nvGrpSpPr>
            <p:grpSpPr>
              <a:xfrm rot="10800000">
                <a:off x="473741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413" name="Google Shape;413;p42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414" name="Google Shape;414;p42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4250" lIns="94250" spcFirstLastPara="1" rIns="94250" wrap="square" tIns="94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15" name="Google Shape;415;p42"/>
              <p:cNvSpPr txBox="1"/>
              <p:nvPr/>
            </p:nvSpPr>
            <p:spPr>
              <a:xfrm>
                <a:off x="4203522" y="2702600"/>
                <a:ext cx="9555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4250" lIns="94250" spcFirstLastPara="1" rIns="94250" wrap="square" tIns="94250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49"/>
                  </a:spcAft>
                  <a:buNone/>
                </a:pPr>
                <a:r>
                  <a:rPr b="1" lang="en" sz="1237">
                    <a:latin typeface="Roboto"/>
                    <a:ea typeface="Roboto"/>
                    <a:cs typeface="Roboto"/>
                    <a:sym typeface="Roboto"/>
                  </a:rPr>
                  <a:t>Month 4</a:t>
                </a:r>
                <a:endParaRPr b="1" sz="1237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16" name="Google Shape;416;p42"/>
              <p:cNvSpPr txBox="1"/>
              <p:nvPr/>
            </p:nvSpPr>
            <p:spPr>
              <a:xfrm>
                <a:off x="4665197" y="3503002"/>
                <a:ext cx="16830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4250" lIns="94250" spcFirstLastPara="1" rIns="94250" wrap="square" tIns="942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24">
                    <a:latin typeface="Roboto"/>
                    <a:ea typeface="Roboto"/>
                    <a:cs typeface="Roboto"/>
                    <a:sym typeface="Roboto"/>
                  </a:rPr>
                  <a:t>Model Tuning &amp; Optimization</a:t>
                </a:r>
                <a:endParaRPr b="1" sz="824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824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1649"/>
                  </a:spcAft>
                  <a:buNone/>
                </a:pPr>
                <a:r>
                  <a:rPr lang="en" sz="824">
                    <a:latin typeface="Roboto"/>
                    <a:ea typeface="Roboto"/>
                    <a:cs typeface="Roboto"/>
                    <a:sym typeface="Roboto"/>
                  </a:rPr>
                  <a:t>To have a highly accurate and optimized model that is ready to be deployed on the hardware.</a:t>
                </a:r>
                <a:endParaRPr b="1" sz="824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17" name="Google Shape;417;p42"/>
            <p:cNvGrpSpPr/>
            <p:nvPr/>
          </p:nvGrpSpPr>
          <p:grpSpPr>
            <a:xfrm>
              <a:off x="5546498" y="1852850"/>
              <a:ext cx="2115031" cy="1735150"/>
              <a:chOff x="5546498" y="1852850"/>
              <a:chExt cx="2115031" cy="1735150"/>
            </a:xfrm>
          </p:grpSpPr>
          <p:sp>
            <p:nvSpPr>
              <p:cNvPr id="418" name="Google Shape;418;p42"/>
              <p:cNvSpPr/>
              <p:nvPr/>
            </p:nvSpPr>
            <p:spPr>
              <a:xfrm>
                <a:off x="6075125" y="3079475"/>
                <a:ext cx="1294800" cy="133500"/>
              </a:xfrm>
              <a:prstGeom prst="rect">
                <a:avLst/>
              </a:prstGeom>
              <a:solidFill>
                <a:srgbClr val="0E9453"/>
              </a:solidFill>
              <a:ln>
                <a:noFill/>
              </a:ln>
            </p:spPr>
            <p:txBody>
              <a:bodyPr anchorCtr="0" anchor="ctr" bIns="94250" lIns="94250" spcFirstLastPara="1" rIns="94250" wrap="square" tIns="942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19" name="Google Shape;419;p42"/>
              <p:cNvGrpSpPr/>
              <p:nvPr/>
            </p:nvGrpSpPr>
            <p:grpSpPr>
              <a:xfrm>
                <a:off x="6031394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420" name="Google Shape;420;p42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421" name="Google Shape;421;p42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4250" lIns="94250" spcFirstLastPara="1" rIns="94250" wrap="square" tIns="94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22" name="Google Shape;422;p42"/>
              <p:cNvSpPr txBox="1"/>
              <p:nvPr/>
            </p:nvSpPr>
            <p:spPr>
              <a:xfrm>
                <a:off x="5546498" y="3216600"/>
                <a:ext cx="9069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4250" lIns="94250" spcFirstLastPara="1" rIns="94250" wrap="square" tIns="94250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49"/>
                  </a:spcAft>
                  <a:buNone/>
                </a:pPr>
                <a:r>
                  <a:rPr b="1" lang="en" sz="1237">
                    <a:latin typeface="Roboto"/>
                    <a:ea typeface="Roboto"/>
                    <a:cs typeface="Roboto"/>
                    <a:sym typeface="Roboto"/>
                  </a:rPr>
                  <a:t>Month 5</a:t>
                </a:r>
                <a:endParaRPr b="1" sz="1237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23" name="Google Shape;423;p42"/>
              <p:cNvSpPr txBox="1"/>
              <p:nvPr/>
            </p:nvSpPr>
            <p:spPr>
              <a:xfrm>
                <a:off x="5978530" y="1852850"/>
                <a:ext cx="16830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4250" lIns="94250" spcFirstLastPara="1" rIns="94250" wrap="square" tIns="942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24">
                    <a:latin typeface="Roboto"/>
                    <a:ea typeface="Roboto"/>
                    <a:cs typeface="Roboto"/>
                    <a:sym typeface="Roboto"/>
                  </a:rPr>
                  <a:t>Hardware Integration &amp; System Validation.</a:t>
                </a:r>
                <a:endParaRPr b="1" sz="824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824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1649"/>
                  </a:spcAft>
                  <a:buNone/>
                </a:pPr>
                <a:r>
                  <a:rPr lang="en" sz="824">
                    <a:latin typeface="Roboto"/>
                    <a:ea typeface="Roboto"/>
                    <a:cs typeface="Roboto"/>
                    <a:sym typeface="Roboto"/>
                  </a:rPr>
                  <a:t>To have a working prototype where the software model runs successfully on the hardware.</a:t>
                </a:r>
                <a:endParaRPr b="1" sz="824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24" name="Google Shape;424;p42"/>
            <p:cNvGrpSpPr/>
            <p:nvPr/>
          </p:nvGrpSpPr>
          <p:grpSpPr>
            <a:xfrm>
              <a:off x="6795326" y="2702600"/>
              <a:ext cx="2351111" cy="1744202"/>
              <a:chOff x="6795326" y="2702600"/>
              <a:chExt cx="2351111" cy="1744202"/>
            </a:xfrm>
          </p:grpSpPr>
          <p:sp>
            <p:nvSpPr>
              <p:cNvPr id="425" name="Google Shape;425;p42"/>
              <p:cNvSpPr/>
              <p:nvPr/>
            </p:nvSpPr>
            <p:spPr>
              <a:xfrm>
                <a:off x="7369837" y="3079475"/>
                <a:ext cx="1776600" cy="133500"/>
              </a:xfrm>
              <a:prstGeom prst="rect">
                <a:avLst/>
              </a:prstGeom>
              <a:solidFill>
                <a:srgbClr val="085630"/>
              </a:solidFill>
              <a:ln>
                <a:noFill/>
              </a:ln>
            </p:spPr>
            <p:txBody>
              <a:bodyPr anchorCtr="0" anchor="ctr" bIns="94250" lIns="94250" spcFirstLastPara="1" rIns="94250" wrap="square" tIns="942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26" name="Google Shape;426;p42"/>
              <p:cNvGrpSpPr/>
              <p:nvPr/>
            </p:nvGrpSpPr>
            <p:grpSpPr>
              <a:xfrm rot="10800000">
                <a:off x="7328221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427" name="Google Shape;427;p42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428" name="Google Shape;428;p42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4250" lIns="94250" spcFirstLastPara="1" rIns="94250" wrap="square" tIns="94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29" name="Google Shape;429;p42"/>
              <p:cNvSpPr txBox="1"/>
              <p:nvPr/>
            </p:nvSpPr>
            <p:spPr>
              <a:xfrm>
                <a:off x="6795326" y="2702600"/>
                <a:ext cx="9546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4250" lIns="94250" spcFirstLastPara="1" rIns="94250" wrap="square" tIns="94250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49"/>
                  </a:spcAft>
                  <a:buNone/>
                </a:pPr>
                <a:r>
                  <a:rPr b="1" lang="en" sz="1237">
                    <a:latin typeface="Roboto"/>
                    <a:ea typeface="Roboto"/>
                    <a:cs typeface="Roboto"/>
                    <a:sym typeface="Roboto"/>
                  </a:rPr>
                  <a:t>Month 6</a:t>
                </a:r>
                <a:endParaRPr b="1" sz="1237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30" name="Google Shape;430;p42"/>
              <p:cNvSpPr txBox="1"/>
              <p:nvPr/>
            </p:nvSpPr>
            <p:spPr>
              <a:xfrm>
                <a:off x="7256967" y="3503002"/>
                <a:ext cx="16830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4250" lIns="94250" spcFirstLastPara="1" rIns="94250" wrap="square" tIns="942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24">
                    <a:latin typeface="Roboto"/>
                    <a:ea typeface="Roboto"/>
                    <a:cs typeface="Roboto"/>
                    <a:sym typeface="Roboto"/>
                  </a:rPr>
                  <a:t>Final Testing, Documentation, &amp; Finalization</a:t>
                </a:r>
                <a:endParaRPr b="1" sz="824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824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1649"/>
                  </a:spcAft>
                  <a:buNone/>
                </a:pPr>
                <a:r>
                  <a:rPr lang="en" sz="824">
                    <a:latin typeface="Roboto"/>
                    <a:ea typeface="Roboto"/>
                    <a:cs typeface="Roboto"/>
                    <a:sym typeface="Roboto"/>
                  </a:rPr>
                  <a:t>To successfully test the final product in a real-world scenario and submit all required project documentation for completion.</a:t>
                </a:r>
                <a:endParaRPr b="1" sz="824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431" name="Google Shape;431;p42"/>
          <p:cNvSpPr txBox="1"/>
          <p:nvPr/>
        </p:nvSpPr>
        <p:spPr>
          <a:xfrm>
            <a:off x="275100" y="285250"/>
            <a:ext cx="38463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Work Plan</a:t>
            </a:r>
            <a:endParaRPr sz="2600">
              <a:solidFill>
                <a:schemeClr val="dk2"/>
              </a:solidFill>
              <a:latin typeface="Merriweather Medium"/>
              <a:ea typeface="Merriweather Medium"/>
              <a:cs typeface="Merriweather Medium"/>
              <a:sym typeface="Merriweather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3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43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